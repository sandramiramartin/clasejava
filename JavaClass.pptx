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1430000" cy="10210800"/>
  <p:notesSz cx="6858000" cy="9144000"/>
  <p:embeddedFontLst>
    <p:embeddedFont>
      <p:font typeface="IBM Plex Sans Condensed Bold" charset="1" panose="020B0806050203000203"/>
      <p:regular r:id="rId20"/>
    </p:embeddedFont>
    <p:embeddedFont>
      <p:font typeface="Fira Sans" charset="1" panose="020B0503050000020004"/>
      <p:regular r:id="rId21"/>
    </p:embeddedFont>
    <p:embeddedFont>
      <p:font typeface="Fira Sans Bold" charset="1" panose="020B0803050000020004"/>
      <p:regular r:id="rId22"/>
    </p:embeddedFont>
    <p:embeddedFont>
      <p:font typeface="Fira Sans Italics" charset="1" panose="020B0503050000020004"/>
      <p:regular r:id="rId23"/>
    </p:embeddedFont>
    <p:embeddedFont>
      <p:font typeface="Open Sans" charset="1" panose="00000000000000000000"/>
      <p:regular r:id="rId24"/>
    </p:embeddedFont>
    <p:embeddedFont>
      <p:font typeface="Arimo" charset="1" panose="020B0604020202020204"/>
      <p:regular r:id="rId25"/>
    </p:embeddedFont>
    <p:embeddedFont>
      <p:font typeface="Open Sans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oracle.com/javase/8/docs/api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https://github.com/SandraMiraMartin/ClaseJava.git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80245" y="7812024"/>
            <a:ext cx="1754505" cy="419100"/>
            <a:chOff x="0" y="0"/>
            <a:chExt cx="233934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20163" y="2539517"/>
            <a:ext cx="5195411" cy="2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b="true" sz="3488" spc="52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Java para Programadores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0163" y="2872043"/>
            <a:ext cx="6070597" cy="14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Aprende los fundamentos, entiende cómo funciona y da tus primeros pasos con confianza.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 la gestión manual (C) y la flexibilidad (Python) a la robustez empresarial.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79669" y="4535224"/>
            <a:ext cx="109299" cy="34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b="true" sz="1687" spc="30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992274" y="1778965"/>
            <a:ext cx="4427525" cy="6641287"/>
            <a:chOff x="0" y="0"/>
            <a:chExt cx="5715000" cy="857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" t="0" r="-9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82063" y="4697149"/>
            <a:ext cx="6070597" cy="2374897"/>
            <a:chOff x="0" y="0"/>
            <a:chExt cx="6070600" cy="2374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5943727" cy="2247900"/>
            </a:xfrm>
            <a:custGeom>
              <a:avLst/>
              <a:gdLst/>
              <a:ahLst/>
              <a:cxnLst/>
              <a:rect r="r" b="b" t="t" l="l"/>
              <a:pathLst>
                <a:path h="2247900" w="5943727">
                  <a:moveTo>
                    <a:pt x="0" y="22264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524"/>
                  </a:cubicBezTo>
                  <a:cubicBezTo>
                    <a:pt x="15875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2226437"/>
                  </a:lnTo>
                  <a:cubicBezTo>
                    <a:pt x="5943727" y="2229231"/>
                    <a:pt x="5943219" y="2232025"/>
                    <a:pt x="5942076" y="2234565"/>
                  </a:cubicBezTo>
                  <a:cubicBezTo>
                    <a:pt x="5940933" y="2237105"/>
                    <a:pt x="5939409" y="2239518"/>
                    <a:pt x="5937377" y="2241550"/>
                  </a:cubicBezTo>
                  <a:cubicBezTo>
                    <a:pt x="5935345" y="2243582"/>
                    <a:pt x="5933059" y="2245106"/>
                    <a:pt x="5930392" y="2246249"/>
                  </a:cubicBezTo>
                  <a:cubicBezTo>
                    <a:pt x="5927725" y="2247392"/>
                    <a:pt x="5925058" y="2247900"/>
                    <a:pt x="5922137" y="2247900"/>
                  </a:cubicBezTo>
                  <a:lnTo>
                    <a:pt x="21463" y="2247900"/>
                  </a:lnTo>
                  <a:cubicBezTo>
                    <a:pt x="18669" y="2247900"/>
                    <a:pt x="15875" y="2247392"/>
                    <a:pt x="13208" y="2246249"/>
                  </a:cubicBezTo>
                  <a:cubicBezTo>
                    <a:pt x="10541" y="2245106"/>
                    <a:pt x="8255" y="2243582"/>
                    <a:pt x="6223" y="2241550"/>
                  </a:cubicBezTo>
                  <a:cubicBezTo>
                    <a:pt x="4191" y="2239518"/>
                    <a:pt x="2667" y="2237232"/>
                    <a:pt x="1651" y="2234565"/>
                  </a:cubicBezTo>
                  <a:cubicBezTo>
                    <a:pt x="635" y="2231898"/>
                    <a:pt x="0" y="2229231"/>
                    <a:pt x="0" y="2226437"/>
                  </a:cubicBezTo>
                </a:path>
              </a:pathLst>
            </a:custGeom>
            <a:solidFill>
              <a:srgbClr val="43355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29718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971800">
                  <a:moveTo>
                    <a:pt x="0" y="1266825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524"/>
                  </a:cubicBezTo>
                  <a:cubicBezTo>
                    <a:pt x="15875" y="381"/>
                    <a:pt x="18542" y="0"/>
                    <a:pt x="21463" y="0"/>
                  </a:cubicBezTo>
                  <a:lnTo>
                    <a:pt x="2971800" y="0"/>
                  </a:lnTo>
                  <a:lnTo>
                    <a:pt x="2971800" y="1266825"/>
                  </a:lnTo>
                  <a:lnTo>
                    <a:pt x="0" y="1266825"/>
                  </a:lnTo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35300" y="63500"/>
              <a:ext cx="2971927" cy="1266952"/>
            </a:xfrm>
            <a:custGeom>
              <a:avLst/>
              <a:gdLst/>
              <a:ahLst/>
              <a:cxnLst/>
              <a:rect r="r" b="b" t="t" l="l"/>
              <a:pathLst>
                <a:path h="1266952" w="2971927">
                  <a:moveTo>
                    <a:pt x="0" y="1266825"/>
                  </a:moveTo>
                  <a:lnTo>
                    <a:pt x="0" y="0"/>
                  </a:lnTo>
                  <a:lnTo>
                    <a:pt x="2950337" y="0"/>
                  </a:lnTo>
                  <a:cubicBezTo>
                    <a:pt x="2953131" y="0"/>
                    <a:pt x="2955925" y="508"/>
                    <a:pt x="2958592" y="1651"/>
                  </a:cubicBezTo>
                  <a:cubicBezTo>
                    <a:pt x="2961259" y="2794"/>
                    <a:pt x="2963545" y="4318"/>
                    <a:pt x="2965577" y="6350"/>
                  </a:cubicBezTo>
                  <a:cubicBezTo>
                    <a:pt x="2967609" y="8382"/>
                    <a:pt x="2969133" y="10668"/>
                    <a:pt x="2970276" y="13335"/>
                  </a:cubicBezTo>
                  <a:cubicBezTo>
                    <a:pt x="2971419" y="16002"/>
                    <a:pt x="2971927" y="18669"/>
                    <a:pt x="2971927" y="21590"/>
                  </a:cubicBezTo>
                  <a:lnTo>
                    <a:pt x="2971927" y="1266952"/>
                  </a:lnTo>
                  <a:lnTo>
                    <a:pt x="0" y="1266952"/>
                  </a:lnTo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35300" y="63500"/>
              <a:ext cx="19050" cy="1266825"/>
            </a:xfrm>
            <a:custGeom>
              <a:avLst/>
              <a:gdLst/>
              <a:ahLst/>
              <a:cxnLst/>
              <a:rect r="r" b="b" t="t" l="l"/>
              <a:pathLst>
                <a:path h="1266825" w="19050">
                  <a:moveTo>
                    <a:pt x="0" y="12573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257300"/>
                  </a:lnTo>
                  <a:cubicBezTo>
                    <a:pt x="19050" y="1259967"/>
                    <a:pt x="18161" y="1262126"/>
                    <a:pt x="16256" y="1264031"/>
                  </a:cubicBezTo>
                  <a:cubicBezTo>
                    <a:pt x="14351" y="1265936"/>
                    <a:pt x="12192" y="1266825"/>
                    <a:pt x="9525" y="1266825"/>
                  </a:cubicBezTo>
                  <a:cubicBezTo>
                    <a:pt x="6858" y="1266825"/>
                    <a:pt x="4699" y="1265936"/>
                    <a:pt x="2794" y="1264031"/>
                  </a:cubicBezTo>
                  <a:cubicBezTo>
                    <a:pt x="889" y="1262126"/>
                    <a:pt x="0" y="1259967"/>
                    <a:pt x="0" y="1257300"/>
                  </a:cubicBezTo>
                </a:path>
              </a:pathLst>
            </a:custGeom>
            <a:solidFill>
              <a:srgbClr val="5C4E6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1330325"/>
              <a:ext cx="5943600" cy="981075"/>
            </a:xfrm>
            <a:custGeom>
              <a:avLst/>
              <a:gdLst/>
              <a:ahLst/>
              <a:cxnLst/>
              <a:rect r="r" b="b" t="t" l="l"/>
              <a:pathLst>
                <a:path h="981075" w="5943600">
                  <a:moveTo>
                    <a:pt x="0" y="959612"/>
                  </a:moveTo>
                  <a:lnTo>
                    <a:pt x="0" y="0"/>
                  </a:lnTo>
                  <a:lnTo>
                    <a:pt x="5943600" y="0"/>
                  </a:lnTo>
                  <a:lnTo>
                    <a:pt x="5943600" y="959612"/>
                  </a:lnTo>
                  <a:cubicBezTo>
                    <a:pt x="5943600" y="962406"/>
                    <a:pt x="5943092" y="965200"/>
                    <a:pt x="5941949" y="967740"/>
                  </a:cubicBezTo>
                  <a:cubicBezTo>
                    <a:pt x="5940806" y="970280"/>
                    <a:pt x="5939282" y="972693"/>
                    <a:pt x="5937250" y="974725"/>
                  </a:cubicBezTo>
                  <a:cubicBezTo>
                    <a:pt x="5935218" y="976757"/>
                    <a:pt x="5932932" y="978281"/>
                    <a:pt x="5930265" y="979424"/>
                  </a:cubicBezTo>
                  <a:cubicBezTo>
                    <a:pt x="5927598" y="980567"/>
                    <a:pt x="5924931" y="981075"/>
                    <a:pt x="5922010" y="981075"/>
                  </a:cubicBezTo>
                  <a:lnTo>
                    <a:pt x="21463" y="981075"/>
                  </a:lnTo>
                  <a:cubicBezTo>
                    <a:pt x="18669" y="981075"/>
                    <a:pt x="15875" y="980567"/>
                    <a:pt x="13208" y="979424"/>
                  </a:cubicBezTo>
                  <a:cubicBezTo>
                    <a:pt x="10541" y="978281"/>
                    <a:pt x="8255" y="976757"/>
                    <a:pt x="6223" y="974725"/>
                  </a:cubicBezTo>
                  <a:cubicBezTo>
                    <a:pt x="4191" y="972693"/>
                    <a:pt x="2667" y="970407"/>
                    <a:pt x="1651" y="967740"/>
                  </a:cubicBezTo>
                  <a:cubicBezTo>
                    <a:pt x="635" y="965073"/>
                    <a:pt x="0" y="962406"/>
                    <a:pt x="0" y="959612"/>
                  </a:cubicBezTo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1330325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5C4E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3666" y="4965287"/>
            <a:ext cx="5641115" cy="2754754"/>
            <a:chOff x="0" y="0"/>
            <a:chExt cx="7521486" cy="367300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754983" y="127914"/>
              <a:ext cx="63856" cy="454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7"/>
                </a:lnSpc>
              </a:pPr>
              <a:r>
                <a:rPr lang="en-US" sz="1394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28725" y="-95250"/>
              <a:ext cx="145732" cy="427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b="true" sz="1687" spc="3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28600" y="357035"/>
              <a:ext cx="2881935" cy="763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4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Tipado estático, control de </a:t>
              </a:r>
            </a:p>
            <a:p>
              <a:pPr algn="l">
                <a:lnSpc>
                  <a:spcPts val="1406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memoria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42975" y="1593850"/>
              <a:ext cx="145732" cy="427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b="true" sz="1687" spc="3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28600" y="2046135"/>
              <a:ext cx="3391726" cy="407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4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Robusto, portable y empresarial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858935"/>
              <a:ext cx="4789373" cy="446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Creado por Sun Microsystems en </a:t>
              </a:r>
              <a:r>
                <a:rPr lang="en-US" b="true" sz="1350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1995</a:t>
              </a: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. Lema: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455835"/>
              <a:ext cx="835685" cy="217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74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(WORA).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191000" y="357035"/>
              <a:ext cx="2635415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4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Flexibilidad y rapidez de </a:t>
              </a:r>
            </a:p>
            <a:p>
              <a:pPr algn="l">
                <a:lnSpc>
                  <a:spcPts val="1406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desarrollo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28600" y="-28575"/>
              <a:ext cx="1894523" cy="360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3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¿Vienes de C?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28600" y="1660525"/>
              <a:ext cx="2768918" cy="360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3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Java: el equilibrio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191000" y="-28575"/>
              <a:ext cx="2623185" cy="360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3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¿Vienes de Python?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675518" y="3001810"/>
              <a:ext cx="2845968" cy="302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48"/>
                </a:lnSpc>
              </a:pPr>
              <a:r>
                <a:rPr lang="en-US" sz="1391" i="true">
                  <a:solidFill>
                    <a:srgbClr val="FFFFFF"/>
                  </a:solidFill>
                  <a:latin typeface="Fira Sans Italics"/>
                  <a:ea typeface="Fira Sans Italics"/>
                  <a:cs typeface="Fira Sans Italics"/>
                  <a:sym typeface="Fira Sans Italics"/>
                </a:rPr>
                <a:t>Write Once, Run Anywhere</a:t>
              </a:r>
              <a:r>
                <a:rPr lang="en-US" sz="139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128397" y="7992999"/>
            <a:ext cx="2638663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b="true" sz="135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Realizado por: Sandra Mira Martin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572" y="3908422"/>
            <a:ext cx="3422647" cy="2346322"/>
          </a:xfrm>
          <a:custGeom>
            <a:avLst/>
            <a:gdLst/>
            <a:ahLst/>
            <a:cxnLst/>
            <a:rect r="r" b="b" t="t" l="l"/>
            <a:pathLst>
              <a:path h="2346322" w="3422647">
                <a:moveTo>
                  <a:pt x="0" y="0"/>
                </a:moveTo>
                <a:lnTo>
                  <a:pt x="3422647" y="0"/>
                </a:lnTo>
                <a:lnTo>
                  <a:pt x="342264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3672" y="3908422"/>
            <a:ext cx="3422647" cy="2346322"/>
          </a:xfrm>
          <a:custGeom>
            <a:avLst/>
            <a:gdLst/>
            <a:ahLst/>
            <a:cxnLst/>
            <a:rect r="r" b="b" t="t" l="l"/>
            <a:pathLst>
              <a:path h="2346322" w="3422647">
                <a:moveTo>
                  <a:pt x="0" y="0"/>
                </a:moveTo>
                <a:lnTo>
                  <a:pt x="3422647" y="0"/>
                </a:lnTo>
                <a:lnTo>
                  <a:pt x="342264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70772" y="3908422"/>
            <a:ext cx="3422647" cy="2346322"/>
          </a:xfrm>
          <a:custGeom>
            <a:avLst/>
            <a:gdLst/>
            <a:ahLst/>
            <a:cxnLst/>
            <a:rect r="r" b="b" t="t" l="l"/>
            <a:pathLst>
              <a:path h="2346322" w="3422647">
                <a:moveTo>
                  <a:pt x="0" y="0"/>
                </a:moveTo>
                <a:lnTo>
                  <a:pt x="3422647" y="0"/>
                </a:lnTo>
                <a:lnTo>
                  <a:pt x="342264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38625" y="4849397"/>
            <a:ext cx="2581332" cy="116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Orientado a Objetos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Todo en Java vive dentro de una clase. La OOP es obligatoria, no opcional.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75" y="3136078"/>
            <a:ext cx="2841793" cy="56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16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¿Qué es Java?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1525" y="4849397"/>
            <a:ext cx="2761374" cy="116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Compilado a Bytecode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No es interpretado ni compilado a nativo: usa la JVM como intermediario.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05725" y="4849397"/>
            <a:ext cx="2791273" cy="89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Usos Principales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Backend empresarial, aplicaciones Android y sistemas de gran escala.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1810312"/>
            <a:ext cx="4286250" cy="6591043"/>
            <a:chOff x="0" y="0"/>
            <a:chExt cx="5715000" cy="8788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788019"/>
            </a:xfrm>
            <a:custGeom>
              <a:avLst/>
              <a:gdLst/>
              <a:ahLst/>
              <a:cxnLst/>
              <a:rect r="r" b="b" t="t" l="l"/>
              <a:pathLst>
                <a:path h="87880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788019"/>
                  </a:lnTo>
                  <a:lnTo>
                    <a:pt x="0" y="8788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" t="-3" r="-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63217" y="1790852"/>
            <a:ext cx="4566783" cy="6610502"/>
            <a:chOff x="0" y="0"/>
            <a:chExt cx="6089044" cy="88140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89043" cy="8814003"/>
            </a:xfrm>
            <a:custGeom>
              <a:avLst/>
              <a:gdLst/>
              <a:ahLst/>
              <a:cxnLst/>
              <a:rect r="r" b="b" t="t" l="l"/>
              <a:pathLst>
                <a:path h="8814003" w="6089043">
                  <a:moveTo>
                    <a:pt x="0" y="0"/>
                  </a:moveTo>
                  <a:lnTo>
                    <a:pt x="6089043" y="0"/>
                  </a:lnTo>
                  <a:lnTo>
                    <a:pt x="6089043" y="8814003"/>
                  </a:lnTo>
                  <a:lnTo>
                    <a:pt x="0" y="8814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11" r="0" b="-171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0075" y="2622032"/>
            <a:ext cx="5246370" cy="26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16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Write Once, Run Anywhere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7943" y="2950540"/>
            <a:ext cx="4633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2905763"/>
            <a:ext cx="6167892" cy="105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 diferencia de C, Java no compila a binario de CPU, sino a un código intermedio (</a:t>
            </a:r>
            <a:r>
              <a:rPr lang="en-US" b="true" sz="135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bytecode</a:t>
            </a: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) que interpreta la </a:t>
            </a:r>
            <a:r>
              <a:rPr lang="en-US" b="true" sz="135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JVM (Java Virtual Machine) </a:t>
            </a: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en cualquier sistema operativo.   Esto hace que el mismo programa funcione en Windows, macOS o Linux sin cambiar una sola línea.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54616" y="3976578"/>
            <a:ext cx="2746839" cy="4241797"/>
            <a:chOff x="0" y="0"/>
            <a:chExt cx="3662451" cy="565572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443571" y="3637750"/>
              <a:ext cx="596900" cy="304800"/>
              <a:chOff x="0" y="0"/>
              <a:chExt cx="447675" cy="228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7548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447548">
                    <a:moveTo>
                      <a:pt x="0" y="207137"/>
                    </a:moveTo>
                    <a:lnTo>
                      <a:pt x="0" y="21463"/>
                    </a:lnTo>
                    <a:cubicBezTo>
                      <a:pt x="0" y="18669"/>
                      <a:pt x="508" y="15875"/>
                      <a:pt x="1651" y="13208"/>
                    </a:cubicBezTo>
                    <a:cubicBezTo>
                      <a:pt x="2794" y="10541"/>
                      <a:pt x="4318" y="8255"/>
                      <a:pt x="6223" y="6223"/>
                    </a:cubicBezTo>
                    <a:cubicBezTo>
                      <a:pt x="8128" y="4191"/>
                      <a:pt x="10668" y="2667"/>
                      <a:pt x="13208" y="1651"/>
                    </a:cubicBezTo>
                    <a:cubicBezTo>
                      <a:pt x="15748" y="635"/>
                      <a:pt x="18542" y="0"/>
                      <a:pt x="21463" y="0"/>
                    </a:cubicBezTo>
                    <a:lnTo>
                      <a:pt x="426212" y="0"/>
                    </a:lnTo>
                    <a:cubicBezTo>
                      <a:pt x="429006" y="0"/>
                      <a:pt x="431800" y="508"/>
                      <a:pt x="434340" y="1651"/>
                    </a:cubicBezTo>
                    <a:cubicBezTo>
                      <a:pt x="436880" y="2794"/>
                      <a:pt x="439293" y="4318"/>
                      <a:pt x="441325" y="6350"/>
                    </a:cubicBezTo>
                    <a:cubicBezTo>
                      <a:pt x="443357" y="8382"/>
                      <a:pt x="444881" y="10668"/>
                      <a:pt x="445897" y="13335"/>
                    </a:cubicBezTo>
                    <a:cubicBezTo>
                      <a:pt x="446913" y="16002"/>
                      <a:pt x="447548" y="18669"/>
                      <a:pt x="447548" y="21590"/>
                    </a:cubicBezTo>
                    <a:lnTo>
                      <a:pt x="447548" y="207137"/>
                    </a:lnTo>
                    <a:cubicBezTo>
                      <a:pt x="447548" y="209931"/>
                      <a:pt x="447040" y="212725"/>
                      <a:pt x="445897" y="215265"/>
                    </a:cubicBezTo>
                    <a:cubicBezTo>
                      <a:pt x="444754" y="217805"/>
                      <a:pt x="443230" y="220218"/>
                      <a:pt x="441325" y="222250"/>
                    </a:cubicBezTo>
                    <a:cubicBezTo>
                      <a:pt x="439420" y="224282"/>
                      <a:pt x="437007" y="225806"/>
                      <a:pt x="434340" y="226949"/>
                    </a:cubicBezTo>
                    <a:cubicBezTo>
                      <a:pt x="431673" y="228092"/>
                      <a:pt x="429006" y="228600"/>
                      <a:pt x="426212" y="228600"/>
                    </a:cubicBezTo>
                    <a:lnTo>
                      <a:pt x="21463" y="228600"/>
                    </a:lnTo>
                    <a:cubicBezTo>
                      <a:pt x="18669" y="228600"/>
                      <a:pt x="15875" y="228092"/>
                      <a:pt x="13208" y="226949"/>
                    </a:cubicBezTo>
                    <a:cubicBezTo>
                      <a:pt x="10541" y="225806"/>
                      <a:pt x="8255" y="224282"/>
                      <a:pt x="6223" y="222250"/>
                    </a:cubicBezTo>
                    <a:cubicBezTo>
                      <a:pt x="4191" y="220218"/>
                      <a:pt x="2667" y="217932"/>
                      <a:pt x="1651" y="215265"/>
                    </a:cubicBezTo>
                    <a:cubicBezTo>
                      <a:pt x="635" y="212598"/>
                      <a:pt x="0" y="210058"/>
                      <a:pt x="0" y="207137"/>
                    </a:cubicBezTo>
                  </a:path>
                </a:pathLst>
              </a:custGeom>
              <a:solidFill>
                <a:srgbClr val="31233E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443571" y="2266150"/>
              <a:ext cx="558800" cy="304800"/>
              <a:chOff x="0" y="0"/>
              <a:chExt cx="419100" cy="228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18973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418973">
                    <a:moveTo>
                      <a:pt x="0" y="207137"/>
                    </a:moveTo>
                    <a:lnTo>
                      <a:pt x="0" y="21463"/>
                    </a:lnTo>
                    <a:cubicBezTo>
                      <a:pt x="0" y="18669"/>
                      <a:pt x="508" y="15875"/>
                      <a:pt x="1651" y="13208"/>
                    </a:cubicBezTo>
                    <a:cubicBezTo>
                      <a:pt x="2794" y="10541"/>
                      <a:pt x="4318" y="8255"/>
                      <a:pt x="6223" y="6223"/>
                    </a:cubicBezTo>
                    <a:cubicBezTo>
                      <a:pt x="8128" y="4191"/>
                      <a:pt x="10668" y="2667"/>
                      <a:pt x="13208" y="1651"/>
                    </a:cubicBezTo>
                    <a:cubicBezTo>
                      <a:pt x="15748" y="635"/>
                      <a:pt x="18542" y="0"/>
                      <a:pt x="21463" y="0"/>
                    </a:cubicBezTo>
                    <a:lnTo>
                      <a:pt x="397637" y="0"/>
                    </a:lnTo>
                    <a:cubicBezTo>
                      <a:pt x="400431" y="0"/>
                      <a:pt x="403225" y="508"/>
                      <a:pt x="405765" y="1651"/>
                    </a:cubicBezTo>
                    <a:cubicBezTo>
                      <a:pt x="408305" y="2794"/>
                      <a:pt x="410718" y="4318"/>
                      <a:pt x="412750" y="6350"/>
                    </a:cubicBezTo>
                    <a:cubicBezTo>
                      <a:pt x="414782" y="8382"/>
                      <a:pt x="416306" y="10668"/>
                      <a:pt x="417322" y="13335"/>
                    </a:cubicBezTo>
                    <a:cubicBezTo>
                      <a:pt x="418338" y="16002"/>
                      <a:pt x="418973" y="18669"/>
                      <a:pt x="418973" y="21590"/>
                    </a:cubicBezTo>
                    <a:lnTo>
                      <a:pt x="418973" y="207137"/>
                    </a:lnTo>
                    <a:cubicBezTo>
                      <a:pt x="418973" y="209931"/>
                      <a:pt x="418465" y="212725"/>
                      <a:pt x="417322" y="215265"/>
                    </a:cubicBezTo>
                    <a:cubicBezTo>
                      <a:pt x="416179" y="217805"/>
                      <a:pt x="414655" y="220218"/>
                      <a:pt x="412750" y="222250"/>
                    </a:cubicBezTo>
                    <a:cubicBezTo>
                      <a:pt x="410845" y="224282"/>
                      <a:pt x="408432" y="225806"/>
                      <a:pt x="405765" y="226949"/>
                    </a:cubicBezTo>
                    <a:cubicBezTo>
                      <a:pt x="403098" y="228092"/>
                      <a:pt x="400431" y="228600"/>
                      <a:pt x="397637" y="228600"/>
                    </a:cubicBezTo>
                    <a:lnTo>
                      <a:pt x="21463" y="228600"/>
                    </a:lnTo>
                    <a:cubicBezTo>
                      <a:pt x="18669" y="228600"/>
                      <a:pt x="15875" y="228092"/>
                      <a:pt x="13208" y="226949"/>
                    </a:cubicBezTo>
                    <a:cubicBezTo>
                      <a:pt x="10541" y="225806"/>
                      <a:pt x="8255" y="224282"/>
                      <a:pt x="6223" y="222250"/>
                    </a:cubicBezTo>
                    <a:cubicBezTo>
                      <a:pt x="4191" y="220218"/>
                      <a:pt x="2667" y="217932"/>
                      <a:pt x="1651" y="215265"/>
                    </a:cubicBezTo>
                    <a:cubicBezTo>
                      <a:pt x="635" y="212598"/>
                      <a:pt x="0" y="210058"/>
                      <a:pt x="0" y="207137"/>
                    </a:cubicBezTo>
                  </a:path>
                </a:pathLst>
              </a:custGeom>
              <a:solidFill>
                <a:srgbClr val="31233E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443571" y="894550"/>
              <a:ext cx="508000" cy="304800"/>
              <a:chOff x="0" y="0"/>
              <a:chExt cx="381000" cy="2286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80873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380873">
                    <a:moveTo>
                      <a:pt x="0" y="207137"/>
                    </a:moveTo>
                    <a:lnTo>
                      <a:pt x="0" y="21463"/>
                    </a:lnTo>
                    <a:cubicBezTo>
                      <a:pt x="0" y="18669"/>
                      <a:pt x="508" y="15875"/>
                      <a:pt x="1651" y="13208"/>
                    </a:cubicBezTo>
                    <a:cubicBezTo>
                      <a:pt x="2794" y="10541"/>
                      <a:pt x="4318" y="8255"/>
                      <a:pt x="6223" y="6223"/>
                    </a:cubicBezTo>
                    <a:cubicBezTo>
                      <a:pt x="8128" y="4191"/>
                      <a:pt x="10668" y="2667"/>
                      <a:pt x="13208" y="1651"/>
                    </a:cubicBezTo>
                    <a:cubicBezTo>
                      <a:pt x="15748" y="635"/>
                      <a:pt x="18542" y="0"/>
                      <a:pt x="21463" y="0"/>
                    </a:cubicBezTo>
                    <a:lnTo>
                      <a:pt x="359537" y="0"/>
                    </a:lnTo>
                    <a:cubicBezTo>
                      <a:pt x="362331" y="0"/>
                      <a:pt x="365125" y="508"/>
                      <a:pt x="367665" y="1651"/>
                    </a:cubicBezTo>
                    <a:cubicBezTo>
                      <a:pt x="370205" y="2794"/>
                      <a:pt x="372618" y="4318"/>
                      <a:pt x="374650" y="6350"/>
                    </a:cubicBezTo>
                    <a:cubicBezTo>
                      <a:pt x="376682" y="8382"/>
                      <a:pt x="378206" y="10668"/>
                      <a:pt x="379222" y="13335"/>
                    </a:cubicBezTo>
                    <a:cubicBezTo>
                      <a:pt x="380238" y="16002"/>
                      <a:pt x="380873" y="18669"/>
                      <a:pt x="380873" y="21590"/>
                    </a:cubicBezTo>
                    <a:lnTo>
                      <a:pt x="380873" y="207137"/>
                    </a:lnTo>
                    <a:cubicBezTo>
                      <a:pt x="380873" y="209931"/>
                      <a:pt x="380365" y="212725"/>
                      <a:pt x="379222" y="215265"/>
                    </a:cubicBezTo>
                    <a:cubicBezTo>
                      <a:pt x="378079" y="217805"/>
                      <a:pt x="376555" y="220218"/>
                      <a:pt x="374650" y="222250"/>
                    </a:cubicBezTo>
                    <a:cubicBezTo>
                      <a:pt x="372745" y="224282"/>
                      <a:pt x="370332" y="225806"/>
                      <a:pt x="367665" y="226949"/>
                    </a:cubicBezTo>
                    <a:cubicBezTo>
                      <a:pt x="364998" y="228092"/>
                      <a:pt x="362331" y="228600"/>
                      <a:pt x="359537" y="228600"/>
                    </a:cubicBezTo>
                    <a:lnTo>
                      <a:pt x="21463" y="228600"/>
                    </a:lnTo>
                    <a:cubicBezTo>
                      <a:pt x="18669" y="228600"/>
                      <a:pt x="15875" y="228092"/>
                      <a:pt x="13208" y="226949"/>
                    </a:cubicBezTo>
                    <a:cubicBezTo>
                      <a:pt x="10541" y="225806"/>
                      <a:pt x="8255" y="224282"/>
                      <a:pt x="6223" y="222250"/>
                    </a:cubicBezTo>
                    <a:cubicBezTo>
                      <a:pt x="4191" y="220218"/>
                      <a:pt x="2667" y="217932"/>
                      <a:pt x="1651" y="215265"/>
                    </a:cubicBezTo>
                    <a:cubicBezTo>
                      <a:pt x="635" y="212598"/>
                      <a:pt x="0" y="210058"/>
                      <a:pt x="0" y="207137"/>
                    </a:cubicBezTo>
                  </a:path>
                </a:pathLst>
              </a:custGeom>
              <a:solidFill>
                <a:srgbClr val="31233E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14431" y="95349"/>
              <a:ext cx="2448020" cy="1131332"/>
              <a:chOff x="0" y="0"/>
              <a:chExt cx="444652" cy="2054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4652" cy="205492"/>
              </a:xfrm>
              <a:custGeom>
                <a:avLst/>
                <a:gdLst/>
                <a:ahLst/>
                <a:cxnLst/>
                <a:rect r="r" b="b" t="t" l="l"/>
                <a:pathLst>
                  <a:path h="205492" w="444652">
                    <a:moveTo>
                      <a:pt x="0" y="0"/>
                    </a:moveTo>
                    <a:lnTo>
                      <a:pt x="444652" y="0"/>
                    </a:lnTo>
                    <a:lnTo>
                      <a:pt x="444652" y="205492"/>
                    </a:lnTo>
                    <a:lnTo>
                      <a:pt x="0" y="205492"/>
                    </a:lnTo>
                    <a:close/>
                  </a:path>
                </a:pathLst>
              </a:custGeom>
              <a:solidFill>
                <a:srgbClr val="A1D7B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71450"/>
                <a:ext cx="444652" cy="376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14431" y="1466580"/>
              <a:ext cx="2448020" cy="1131332"/>
              <a:chOff x="0" y="0"/>
              <a:chExt cx="444652" cy="20549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44652" cy="205492"/>
              </a:xfrm>
              <a:custGeom>
                <a:avLst/>
                <a:gdLst/>
                <a:ahLst/>
                <a:cxnLst/>
                <a:rect r="r" b="b" t="t" l="l"/>
                <a:pathLst>
                  <a:path h="205492" w="444652">
                    <a:moveTo>
                      <a:pt x="0" y="0"/>
                    </a:moveTo>
                    <a:lnTo>
                      <a:pt x="444652" y="0"/>
                    </a:lnTo>
                    <a:lnTo>
                      <a:pt x="444652" y="205492"/>
                    </a:lnTo>
                    <a:lnTo>
                      <a:pt x="0" y="205492"/>
                    </a:lnTo>
                    <a:close/>
                  </a:path>
                </a:pathLst>
              </a:custGeom>
              <a:solidFill>
                <a:srgbClr val="A1D7B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71450"/>
                <a:ext cx="444652" cy="376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14431" y="4211844"/>
              <a:ext cx="2448020" cy="1131332"/>
              <a:chOff x="0" y="0"/>
              <a:chExt cx="444652" cy="2054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44652" cy="205492"/>
              </a:xfrm>
              <a:custGeom>
                <a:avLst/>
                <a:gdLst/>
                <a:ahLst/>
                <a:cxnLst/>
                <a:rect r="r" b="b" t="t" l="l"/>
                <a:pathLst>
                  <a:path h="205492" w="444652">
                    <a:moveTo>
                      <a:pt x="0" y="0"/>
                    </a:moveTo>
                    <a:lnTo>
                      <a:pt x="444652" y="0"/>
                    </a:lnTo>
                    <a:lnTo>
                      <a:pt x="444652" y="205492"/>
                    </a:lnTo>
                    <a:lnTo>
                      <a:pt x="0" y="205492"/>
                    </a:lnTo>
                    <a:close/>
                  </a:path>
                </a:pathLst>
              </a:custGeom>
              <a:solidFill>
                <a:srgbClr val="A1D7B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71450"/>
                <a:ext cx="444652" cy="376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14431" y="2839212"/>
              <a:ext cx="2448020" cy="1131332"/>
              <a:chOff x="0" y="0"/>
              <a:chExt cx="444652" cy="20549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44652" cy="205492"/>
              </a:xfrm>
              <a:custGeom>
                <a:avLst/>
                <a:gdLst/>
                <a:ahLst/>
                <a:cxnLst/>
                <a:rect r="r" b="b" t="t" l="l"/>
                <a:pathLst>
                  <a:path h="205492" w="444652">
                    <a:moveTo>
                      <a:pt x="0" y="0"/>
                    </a:moveTo>
                    <a:lnTo>
                      <a:pt x="444652" y="0"/>
                    </a:lnTo>
                    <a:lnTo>
                      <a:pt x="444652" y="205492"/>
                    </a:lnTo>
                    <a:lnTo>
                      <a:pt x="0" y="205492"/>
                    </a:lnTo>
                    <a:close/>
                  </a:path>
                </a:pathLst>
              </a:custGeom>
              <a:solidFill>
                <a:srgbClr val="A1D7B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71450"/>
                <a:ext cx="444652" cy="3769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5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1312329" cy="5655729"/>
              <a:chOff x="0" y="0"/>
              <a:chExt cx="984250" cy="4241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63500" y="63500"/>
                <a:ext cx="857250" cy="1028700"/>
              </a:xfrm>
              <a:custGeom>
                <a:avLst/>
                <a:gdLst/>
                <a:ahLst/>
                <a:cxnLst/>
                <a:rect r="r" b="b" t="t" l="l"/>
                <a:pathLst>
                  <a:path h="1028700" w="857250">
                    <a:moveTo>
                      <a:pt x="0" y="857250"/>
                    </a:moveTo>
                    <a:lnTo>
                      <a:pt x="428625" y="1028700"/>
                    </a:lnTo>
                    <a:lnTo>
                      <a:pt x="857250" y="857250"/>
                    </a:lnTo>
                    <a:lnTo>
                      <a:pt x="857250" y="0"/>
                    </a:lnTo>
                    <a:lnTo>
                      <a:pt x="428625" y="171450"/>
                    </a:lnTo>
                    <a:lnTo>
                      <a:pt x="0" y="0"/>
                    </a:lnTo>
                    <a:lnTo>
                      <a:pt x="0" y="857250"/>
                    </a:lnTo>
                  </a:path>
                </a:pathLst>
              </a:custGeom>
              <a:solidFill>
                <a:srgbClr val="5CC97B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63500" y="1092200"/>
                <a:ext cx="857250" cy="1028700"/>
              </a:xfrm>
              <a:custGeom>
                <a:avLst/>
                <a:gdLst/>
                <a:ahLst/>
                <a:cxnLst/>
                <a:rect r="r" b="b" t="t" l="l"/>
                <a:pathLst>
                  <a:path h="1028700" w="857250">
                    <a:moveTo>
                      <a:pt x="0" y="857249"/>
                    </a:moveTo>
                    <a:lnTo>
                      <a:pt x="428625" y="1028699"/>
                    </a:lnTo>
                    <a:lnTo>
                      <a:pt x="857250" y="857249"/>
                    </a:lnTo>
                    <a:lnTo>
                      <a:pt x="857250" y="0"/>
                    </a:lnTo>
                    <a:lnTo>
                      <a:pt x="428625" y="171450"/>
                    </a:lnTo>
                    <a:lnTo>
                      <a:pt x="0" y="0"/>
                    </a:lnTo>
                    <a:lnTo>
                      <a:pt x="0" y="857249"/>
                    </a:lnTo>
                  </a:path>
                </a:pathLst>
              </a:custGeom>
              <a:solidFill>
                <a:srgbClr val="5CC97B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63500" y="2120899"/>
                <a:ext cx="857250" cy="1028700"/>
              </a:xfrm>
              <a:custGeom>
                <a:avLst/>
                <a:gdLst/>
                <a:ahLst/>
                <a:cxnLst/>
                <a:rect r="r" b="b" t="t" l="l"/>
                <a:pathLst>
                  <a:path h="1028700" w="857250">
                    <a:moveTo>
                      <a:pt x="0" y="857250"/>
                    </a:moveTo>
                    <a:lnTo>
                      <a:pt x="428625" y="1028700"/>
                    </a:lnTo>
                    <a:lnTo>
                      <a:pt x="857250" y="857250"/>
                    </a:lnTo>
                    <a:lnTo>
                      <a:pt x="857250" y="0"/>
                    </a:lnTo>
                    <a:lnTo>
                      <a:pt x="428625" y="171450"/>
                    </a:lnTo>
                    <a:lnTo>
                      <a:pt x="0" y="0"/>
                    </a:lnTo>
                    <a:lnTo>
                      <a:pt x="0" y="857250"/>
                    </a:lnTo>
                  </a:path>
                </a:pathLst>
              </a:custGeom>
              <a:solidFill>
                <a:srgbClr val="5CC97B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63500" y="3149599"/>
                <a:ext cx="857250" cy="1028700"/>
              </a:xfrm>
              <a:custGeom>
                <a:avLst/>
                <a:gdLst/>
                <a:ahLst/>
                <a:cxnLst/>
                <a:rect r="r" b="b" t="t" l="l"/>
                <a:pathLst>
                  <a:path h="1028700" w="857250">
                    <a:moveTo>
                      <a:pt x="0" y="857250"/>
                    </a:moveTo>
                    <a:lnTo>
                      <a:pt x="428625" y="1028700"/>
                    </a:lnTo>
                    <a:lnTo>
                      <a:pt x="857250" y="857250"/>
                    </a:lnTo>
                    <a:lnTo>
                      <a:pt x="857250" y="0"/>
                    </a:lnTo>
                    <a:lnTo>
                      <a:pt x="428625" y="171450"/>
                    </a:lnTo>
                    <a:lnTo>
                      <a:pt x="0" y="0"/>
                    </a:lnTo>
                    <a:lnTo>
                      <a:pt x="0" y="857250"/>
                    </a:lnTo>
                  </a:path>
                </a:pathLst>
              </a:custGeom>
              <a:solidFill>
                <a:srgbClr val="5CC97B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1443571" y="4837144"/>
              <a:ext cx="2130108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Cualquier plataforma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70446" y="308527"/>
              <a:ext cx="174879" cy="655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2"/>
                </a:lnSpc>
              </a:pPr>
              <a:r>
                <a:rPr lang="en-US" b="true" sz="2025" spc="1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1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70446" y="1730927"/>
              <a:ext cx="174879" cy="655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2"/>
                </a:lnSpc>
              </a:pPr>
              <a:r>
                <a:rPr lang="en-US" b="true" sz="2025" spc="1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2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70446" y="3106458"/>
              <a:ext cx="174879" cy="655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2"/>
                </a:lnSpc>
              </a:pPr>
              <a:r>
                <a:rPr lang="en-US" b="true" sz="2025" spc="1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3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70446" y="4470775"/>
              <a:ext cx="174879" cy="6557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62"/>
                </a:lnSpc>
              </a:pPr>
              <a:r>
                <a:rPr lang="en-US" b="true" sz="2025" spc="10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4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456271" y="4475369"/>
              <a:ext cx="437197" cy="360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JVM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456271" y="3077337"/>
              <a:ext cx="1165860" cy="80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Bytecode</a:t>
              </a:r>
            </a:p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.class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456030" y="1732150"/>
              <a:ext cx="1457566" cy="80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Compilador</a:t>
              </a:r>
            </a:p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javac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443571" y="336163"/>
              <a:ext cx="1894523" cy="80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b="true" sz="1687" spc="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Código fuente</a:t>
              </a:r>
            </a:p>
            <a:p>
              <a:pPr algn="l">
                <a:lnSpc>
                  <a:spcPts val="1889"/>
                </a:lnSpc>
              </a:pPr>
              <a:r>
                <a:rPr lang="en-US" sz="13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.java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81498" y="3636130"/>
          <a:ext cx="9296465" cy="2857315"/>
        </p:xfrm>
        <a:graphic>
          <a:graphicData uri="http://schemas.openxmlformats.org/drawingml/2006/table">
            <a:tbl>
              <a:tblPr/>
              <a:tblGrid>
                <a:gridCol w="2324116"/>
                <a:gridCol w="2324116"/>
                <a:gridCol w="2324116"/>
                <a:gridCol w="2324116"/>
              </a:tblGrid>
              <a:tr h="571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97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97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97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97B"/>
                    </a:solidFill>
                  </a:tcPr>
                </a:tc>
              </a:tr>
              <a:tr h="571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C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</a:tr>
              <a:tr h="571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C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</a:tr>
              <a:tr h="571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C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</a:tr>
              <a:tr h="571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C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08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BD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178771" y="2836786"/>
            <a:ext cx="1536411" cy="658462"/>
          </a:xfrm>
          <a:custGeom>
            <a:avLst/>
            <a:gdLst/>
            <a:ahLst/>
            <a:cxnLst/>
            <a:rect r="r" b="b" t="t" l="l"/>
            <a:pathLst>
              <a:path h="658462" w="1536411">
                <a:moveTo>
                  <a:pt x="0" y="0"/>
                </a:moveTo>
                <a:lnTo>
                  <a:pt x="1536411" y="0"/>
                </a:lnTo>
                <a:lnTo>
                  <a:pt x="1536411" y="658462"/>
                </a:lnTo>
                <a:lnTo>
                  <a:pt x="0" y="658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17" t="-229517" r="-283006" b="-61763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29368" y="2600106"/>
            <a:ext cx="1569874" cy="951622"/>
          </a:xfrm>
          <a:custGeom>
            <a:avLst/>
            <a:gdLst/>
            <a:ahLst/>
            <a:cxnLst/>
            <a:rect r="r" b="b" t="t" l="l"/>
            <a:pathLst>
              <a:path h="951622" w="1569874">
                <a:moveTo>
                  <a:pt x="0" y="0"/>
                </a:moveTo>
                <a:lnTo>
                  <a:pt x="1569874" y="0"/>
                </a:lnTo>
                <a:lnTo>
                  <a:pt x="1569874" y="951623"/>
                </a:lnTo>
                <a:lnTo>
                  <a:pt x="0" y="951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548" t="-140956" r="-150722" b="-41441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13120" y="2814950"/>
            <a:ext cx="1542428" cy="680298"/>
          </a:xfrm>
          <a:custGeom>
            <a:avLst/>
            <a:gdLst/>
            <a:ahLst/>
            <a:cxnLst/>
            <a:rect r="r" b="b" t="t" l="l"/>
            <a:pathLst>
              <a:path h="680298" w="1542428">
                <a:moveTo>
                  <a:pt x="0" y="0"/>
                </a:moveTo>
                <a:lnTo>
                  <a:pt x="1542428" y="0"/>
                </a:lnTo>
                <a:lnTo>
                  <a:pt x="1542428" y="680298"/>
                </a:lnTo>
                <a:lnTo>
                  <a:pt x="0" y="680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9830" t="-222121" r="-24509" b="-59463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53346" y="7034332"/>
            <a:ext cx="9133256" cy="783648"/>
            <a:chOff x="0" y="0"/>
            <a:chExt cx="2211923" cy="1897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1923" cy="189787"/>
            </a:xfrm>
            <a:custGeom>
              <a:avLst/>
              <a:gdLst/>
              <a:ahLst/>
              <a:cxnLst/>
              <a:rect r="r" b="b" t="t" l="l"/>
              <a:pathLst>
                <a:path h="189787" w="2211923">
                  <a:moveTo>
                    <a:pt x="0" y="0"/>
                  </a:moveTo>
                  <a:lnTo>
                    <a:pt x="2211923" y="0"/>
                  </a:lnTo>
                  <a:lnTo>
                    <a:pt x="2211923" y="189787"/>
                  </a:lnTo>
                  <a:lnTo>
                    <a:pt x="0" y="189787"/>
                  </a:ln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2211923" cy="361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31978" y="1944205"/>
            <a:ext cx="38786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16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Python vs. Java vs. 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4244" y="3611613"/>
            <a:ext cx="74777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Concepto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5962" y="4204935"/>
            <a:ext cx="137349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Punto de entrada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2871" y="4817307"/>
            <a:ext cx="158176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Orientado a objetos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2300" y="5407857"/>
            <a:ext cx="54369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Tipado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1404" y="5979226"/>
            <a:ext cx="98263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Compilación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45246" y="3794493"/>
            <a:ext cx="1138809" cy="2552529"/>
            <a:chOff x="0" y="0"/>
            <a:chExt cx="1518412" cy="34033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342900" y="-171450"/>
              <a:ext cx="754774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b="true" sz="1350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Python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33501"/>
              <a:ext cx="1518412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No obligatorio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28600" y="1420901"/>
              <a:ext cx="942708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Opcional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54000" y="2233701"/>
              <a:ext cx="987946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Dinámico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6200" y="2957601"/>
              <a:ext cx="1336764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Interpretado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76015" y="3784968"/>
            <a:ext cx="851830" cy="2581104"/>
            <a:chOff x="0" y="0"/>
            <a:chExt cx="1135774" cy="3441471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419100" y="-171450"/>
              <a:ext cx="134074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b="true" sz="1350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65100" y="633501"/>
              <a:ext cx="680161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main()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17500" y="1433601"/>
              <a:ext cx="295427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No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27000" y="2182901"/>
              <a:ext cx="834746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Estático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995701"/>
              <a:ext cx="1135774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Compilado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24510" y="7217346"/>
            <a:ext cx="8609717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b="true" sz="135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Mensaje clave:</a:t>
            </a: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Java combina el control de C con la familiaridad de Python, aportando la estructura y disciplina sin renunciar a la productividad 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012780" y="3794493"/>
            <a:ext cx="1203750" cy="2552529"/>
            <a:chOff x="0" y="0"/>
            <a:chExt cx="1605001" cy="3403371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520700" y="-171450"/>
              <a:ext cx="440461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b="true" sz="1350">
                  <a:solidFill>
                    <a:srgbClr val="FFFFF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Java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31800" y="608101"/>
              <a:ext cx="680161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main()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8100" y="1420901"/>
              <a:ext cx="1566901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Sí (obligatorio)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17500" y="2195601"/>
              <a:ext cx="834746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Estático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957601"/>
              <a:ext cx="1594193" cy="44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135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Bytecode + JVM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80543" y="7255446"/>
            <a:ext cx="34873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💡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3824" y="3327008"/>
            <a:ext cx="5266715" cy="4379362"/>
            <a:chOff x="0" y="0"/>
            <a:chExt cx="2152425" cy="1789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2425" cy="1789778"/>
            </a:xfrm>
            <a:custGeom>
              <a:avLst/>
              <a:gdLst/>
              <a:ahLst/>
              <a:cxnLst/>
              <a:rect r="r" b="b" t="t" l="l"/>
              <a:pathLst>
                <a:path h="1789778" w="2152425">
                  <a:moveTo>
                    <a:pt x="0" y="0"/>
                  </a:moveTo>
                  <a:lnTo>
                    <a:pt x="2152425" y="0"/>
                  </a:lnTo>
                  <a:lnTo>
                    <a:pt x="2152425" y="1789778"/>
                  </a:lnTo>
                  <a:lnTo>
                    <a:pt x="0" y="1789778"/>
                  </a:lnTo>
                  <a:close/>
                </a:path>
              </a:pathLst>
            </a:custGeom>
            <a:solidFill>
              <a:srgbClr val="A2B9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2152425" cy="19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9927" y="3327008"/>
            <a:ext cx="5266715" cy="4379362"/>
            <a:chOff x="0" y="0"/>
            <a:chExt cx="2152425" cy="17897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2425" cy="1789778"/>
            </a:xfrm>
            <a:custGeom>
              <a:avLst/>
              <a:gdLst/>
              <a:ahLst/>
              <a:cxnLst/>
              <a:rect r="r" b="b" t="t" l="l"/>
              <a:pathLst>
                <a:path h="1789778" w="2152425">
                  <a:moveTo>
                    <a:pt x="0" y="0"/>
                  </a:moveTo>
                  <a:lnTo>
                    <a:pt x="2152425" y="0"/>
                  </a:lnTo>
                  <a:lnTo>
                    <a:pt x="2152425" y="1789778"/>
                  </a:lnTo>
                  <a:lnTo>
                    <a:pt x="0" y="1789778"/>
                  </a:lnTo>
                  <a:close/>
                </a:path>
              </a:pathLst>
            </a:custGeom>
            <a:solidFill>
              <a:srgbClr val="6DFF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52425" cy="19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73051" y="2129676"/>
            <a:ext cx="5647182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b="true" sz="3488" spc="52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Ventajas e inconvenientes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9731" y="3421266"/>
            <a:ext cx="281254" cy="32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0628" y="3421266"/>
            <a:ext cx="281254" cy="32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5546" y="6225483"/>
            <a:ext cx="3764070" cy="98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Robustez</a:t>
            </a:r>
          </a:p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El tipado estático y la gestión de excepciones producen código más </a:t>
            </a:r>
            <a:r>
              <a:rPr lang="en-US" b="true" sz="1395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fiable y mantenible</a:t>
            </a: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036" y="3319896"/>
            <a:ext cx="1016489" cy="41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Ventajas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5546" y="3872808"/>
            <a:ext cx="1717738" cy="196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Salida laboral</a:t>
            </a:r>
          </a:p>
          <a:p>
            <a:pPr algn="l">
              <a:lnSpc>
                <a:spcPts val="2234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Java es uno de los lenguajes </a:t>
            </a:r>
            <a:r>
              <a:rPr lang="en-US" b="true" sz="1395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más demandados</a:t>
            </a: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por empresas de todo el mundo.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46002" y="4025208"/>
            <a:ext cx="1680096" cy="216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Ecosistema enorme</a:t>
            </a:r>
          </a:p>
          <a:p>
            <a:pPr algn="l">
              <a:lnSpc>
                <a:spcPts val="2212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Miles de librerías, frameworks (Spring, Maven) y una comunidad activa.</a:t>
            </a:r>
          </a:p>
          <a:p>
            <a:pPr algn="l">
              <a:lnSpc>
                <a:spcPts val="2212"/>
              </a:lnSpc>
            </a:pPr>
          </a:p>
          <a:p>
            <a:pPr algn="l">
              <a:lnSpc>
                <a:spcPts val="2212"/>
              </a:lnSpc>
            </a:pPr>
            <a:r>
              <a:rPr lang="en-US" b="true" sz="1395" u="sng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  <a:hlinkClick r:id="rId2" tooltip="https://docs.oracle.com/javase/8/docs/api/"/>
              </a:rPr>
              <a:t>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40932" y="3289978"/>
            <a:ext cx="1694145" cy="41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Inconvenientes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16443" y="3872808"/>
            <a:ext cx="1827495" cy="167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Verboso</a:t>
            </a:r>
          </a:p>
          <a:p>
            <a:pPr algn="l">
              <a:lnSpc>
                <a:spcPts val="2212"/>
              </a:lnSpc>
            </a:pPr>
            <a:r>
              <a:rPr lang="en-US" sz="139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Requiere escribir más código que lenguajes como Python para hacer lo mismo.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6443" y="6501708"/>
            <a:ext cx="4423962" cy="98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Curva de aprendizaje</a:t>
            </a:r>
          </a:p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Conceptos como clases, herencia o interfaces pueden resultar complejos al principio.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6457" y="4025208"/>
            <a:ext cx="1784233" cy="20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Consumo de memoria</a:t>
            </a:r>
          </a:p>
          <a:p>
            <a:pPr algn="l">
              <a:lnSpc>
                <a:spcPts val="2234"/>
              </a:lnSpc>
            </a:pPr>
            <a:r>
              <a:rPr lang="en-US" sz="139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La JVM tiene un coste de arranque y consume más RAM que alternativas nativas.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736406" y="4180761"/>
            <a:ext cx="305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>
            <a:off x="3290938" y="4199811"/>
            <a:ext cx="305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>
            <a:off x="6097641" y="4209336"/>
            <a:ext cx="305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8741774" y="4180761"/>
            <a:ext cx="305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6114529" y="6717482"/>
            <a:ext cx="305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798169" y="6403669"/>
            <a:ext cx="3056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1886207"/>
            <a:ext cx="4286250" cy="6438643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3" r="0" b="-5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36572" y="5118097"/>
            <a:ext cx="6070597" cy="1755772"/>
          </a:xfrm>
          <a:custGeom>
            <a:avLst/>
            <a:gdLst/>
            <a:ahLst/>
            <a:cxnLst/>
            <a:rect r="r" b="b" t="t" l="l"/>
            <a:pathLst>
              <a:path h="1755772" w="6070597">
                <a:moveTo>
                  <a:pt x="0" y="0"/>
                </a:moveTo>
                <a:lnTo>
                  <a:pt x="6070597" y="0"/>
                </a:lnTo>
                <a:lnTo>
                  <a:pt x="6070597" y="1755772"/>
                </a:lnTo>
                <a:lnTo>
                  <a:pt x="0" y="1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2993203"/>
            <a:ext cx="4590574" cy="26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 spc="60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Sintaxis y Estructura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920" y="3887538"/>
            <a:ext cx="5535203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b="true" sz="164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Todo vive dentro de una clase.</a:t>
            </a:r>
            <a:r>
              <a:rPr lang="en-US" sz="1649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El archivo debe llamarse igual que la clase.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00075" y="5118097"/>
            <a:ext cx="5032372" cy="1755772"/>
          </a:xfrm>
          <a:custGeom>
            <a:avLst/>
            <a:gdLst/>
            <a:ahLst/>
            <a:cxnLst/>
            <a:rect r="r" b="b" t="t" l="l"/>
            <a:pathLst>
              <a:path h="1755772" w="5032372">
                <a:moveTo>
                  <a:pt x="0" y="0"/>
                </a:moveTo>
                <a:lnTo>
                  <a:pt x="5032372" y="0"/>
                </a:lnTo>
                <a:lnTo>
                  <a:pt x="5032372" y="1755772"/>
                </a:lnTo>
                <a:lnTo>
                  <a:pt x="0" y="1755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3038" y="5271687"/>
            <a:ext cx="6188856" cy="105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 class MiPrograma {  </a:t>
            </a:r>
          </a:p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//Nuestro Código</a:t>
            </a:r>
          </a:p>
          <a:p>
            <a:pPr algn="l">
              <a:lnSpc>
                <a:spcPts val="2145"/>
              </a:lnSpc>
            </a:pPr>
          </a:p>
          <a:p>
            <a:pPr algn="l">
              <a:lnSpc>
                <a:spcPts val="2145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572" y="3489322"/>
            <a:ext cx="5178428" cy="1965447"/>
          </a:xfrm>
          <a:custGeom>
            <a:avLst/>
            <a:gdLst/>
            <a:ahLst/>
            <a:cxnLst/>
            <a:rect r="r" b="b" t="t" l="l"/>
            <a:pathLst>
              <a:path h="1965447" w="5178428">
                <a:moveTo>
                  <a:pt x="0" y="0"/>
                </a:moveTo>
                <a:lnTo>
                  <a:pt x="5178428" y="0"/>
                </a:lnTo>
                <a:lnTo>
                  <a:pt x="5178428" y="1965447"/>
                </a:lnTo>
                <a:lnTo>
                  <a:pt x="0" y="196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87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1522" y="3489322"/>
            <a:ext cx="5051422" cy="1222372"/>
          </a:xfrm>
          <a:custGeom>
            <a:avLst/>
            <a:gdLst/>
            <a:ahLst/>
            <a:cxnLst/>
            <a:rect r="r" b="b" t="t" l="l"/>
            <a:pathLst>
              <a:path h="1222372" w="5051422">
                <a:moveTo>
                  <a:pt x="0" y="0"/>
                </a:moveTo>
                <a:lnTo>
                  <a:pt x="5051422" y="0"/>
                </a:lnTo>
                <a:lnTo>
                  <a:pt x="5051422" y="1222372"/>
                </a:lnTo>
                <a:lnTo>
                  <a:pt x="0" y="1222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51522" y="4756147"/>
            <a:ext cx="5051422" cy="1222372"/>
          </a:xfrm>
          <a:custGeom>
            <a:avLst/>
            <a:gdLst/>
            <a:ahLst/>
            <a:cxnLst/>
            <a:rect r="r" b="b" t="t" l="l"/>
            <a:pathLst>
              <a:path h="1222372" w="5051422">
                <a:moveTo>
                  <a:pt x="0" y="0"/>
                </a:moveTo>
                <a:lnTo>
                  <a:pt x="5051422" y="0"/>
                </a:lnTo>
                <a:lnTo>
                  <a:pt x="5051422" y="1222372"/>
                </a:lnTo>
                <a:lnTo>
                  <a:pt x="0" y="1222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51522" y="6022972"/>
            <a:ext cx="5051422" cy="1489072"/>
          </a:xfrm>
          <a:custGeom>
            <a:avLst/>
            <a:gdLst/>
            <a:ahLst/>
            <a:cxnLst/>
            <a:rect r="r" b="b" t="t" l="l"/>
            <a:pathLst>
              <a:path h="1489072" w="5051422">
                <a:moveTo>
                  <a:pt x="0" y="0"/>
                </a:moveTo>
                <a:lnTo>
                  <a:pt x="5051422" y="0"/>
                </a:lnTo>
                <a:lnTo>
                  <a:pt x="5051422" y="1489072"/>
                </a:lnTo>
                <a:lnTo>
                  <a:pt x="0" y="1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0075" y="2602678"/>
            <a:ext cx="6120775" cy="56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16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Anatomía de un Programa Java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3038" y="3643074"/>
            <a:ext cx="4544734" cy="158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 class HolaMundo {  </a:t>
            </a:r>
          </a:p>
          <a:p>
            <a:pPr algn="l">
              <a:lnSpc>
                <a:spcPts val="2174"/>
              </a:lnSpc>
            </a:pP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public static void main(String[] args) { 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System.out.println("Hola mundo"); 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}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81277" y="5030372"/>
            <a:ext cx="3241891" cy="68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main()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Punto de entrada obligatorio, como en 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81277" y="6297197"/>
            <a:ext cx="4049430" cy="95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{ } y ;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Llaves para bloques, punto y coma al final de cada sentencia.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81277" y="3763547"/>
            <a:ext cx="3176654" cy="68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class HolaMundo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Todo el código vive dentro de una clase.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978" y="3451222"/>
            <a:ext cx="5280022" cy="4108447"/>
            <a:chOff x="0" y="0"/>
            <a:chExt cx="5280025" cy="4108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373" y="63500"/>
              <a:ext cx="5153279" cy="3981577"/>
            </a:xfrm>
            <a:custGeom>
              <a:avLst/>
              <a:gdLst/>
              <a:ahLst/>
              <a:cxnLst/>
              <a:rect r="r" b="b" t="t" l="l"/>
              <a:pathLst>
                <a:path h="3981577" w="5153279">
                  <a:moveTo>
                    <a:pt x="127" y="39599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131689" y="0"/>
                  </a:lnTo>
                  <a:cubicBezTo>
                    <a:pt x="5134483" y="0"/>
                    <a:pt x="5137277" y="508"/>
                    <a:pt x="5139944" y="1651"/>
                  </a:cubicBezTo>
                  <a:cubicBezTo>
                    <a:pt x="5142611" y="2794"/>
                    <a:pt x="5144897" y="4318"/>
                    <a:pt x="5146929" y="6350"/>
                  </a:cubicBezTo>
                  <a:cubicBezTo>
                    <a:pt x="5148961" y="8382"/>
                    <a:pt x="5150485" y="10668"/>
                    <a:pt x="5151628" y="13335"/>
                  </a:cubicBezTo>
                  <a:cubicBezTo>
                    <a:pt x="5152771" y="16002"/>
                    <a:pt x="5153279" y="18669"/>
                    <a:pt x="5153279" y="21590"/>
                  </a:cubicBezTo>
                  <a:lnTo>
                    <a:pt x="5153279" y="3959987"/>
                  </a:lnTo>
                  <a:cubicBezTo>
                    <a:pt x="5153279" y="3962781"/>
                    <a:pt x="5152771" y="3965575"/>
                    <a:pt x="5151628" y="3968242"/>
                  </a:cubicBezTo>
                  <a:cubicBezTo>
                    <a:pt x="5150485" y="3970909"/>
                    <a:pt x="5148961" y="3973195"/>
                    <a:pt x="5146929" y="3975227"/>
                  </a:cubicBezTo>
                  <a:cubicBezTo>
                    <a:pt x="5144897" y="3977259"/>
                    <a:pt x="5142611" y="3978783"/>
                    <a:pt x="5139944" y="3979926"/>
                  </a:cubicBezTo>
                  <a:cubicBezTo>
                    <a:pt x="5137277" y="3981069"/>
                    <a:pt x="5134610" y="3981577"/>
                    <a:pt x="5131689" y="3981577"/>
                  </a:cubicBezTo>
                  <a:lnTo>
                    <a:pt x="21590" y="3981577"/>
                  </a:lnTo>
                  <a:cubicBezTo>
                    <a:pt x="18796" y="3981577"/>
                    <a:pt x="16002" y="3981069"/>
                    <a:pt x="13335" y="3979926"/>
                  </a:cubicBezTo>
                  <a:cubicBezTo>
                    <a:pt x="10668" y="3978783"/>
                    <a:pt x="8382" y="3977259"/>
                    <a:pt x="6350" y="3975227"/>
                  </a:cubicBezTo>
                  <a:cubicBezTo>
                    <a:pt x="4318" y="3973195"/>
                    <a:pt x="2794" y="3970909"/>
                    <a:pt x="1651" y="3968242"/>
                  </a:cubicBezTo>
                  <a:cubicBezTo>
                    <a:pt x="508" y="3965575"/>
                    <a:pt x="0" y="3962908"/>
                    <a:pt x="0" y="3959987"/>
                  </a:cubicBez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44475" y="701802"/>
              <a:ext cx="2304923" cy="1647571"/>
            </a:xfrm>
            <a:custGeom>
              <a:avLst/>
              <a:gdLst/>
              <a:ahLst/>
              <a:cxnLst/>
              <a:rect r="r" b="b" t="t" l="l"/>
              <a:pathLst>
                <a:path h="1647571" w="2304923">
                  <a:moveTo>
                    <a:pt x="0" y="1635760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293112" y="0"/>
                  </a:lnTo>
                  <a:cubicBezTo>
                    <a:pt x="2296414" y="0"/>
                    <a:pt x="2299208" y="1143"/>
                    <a:pt x="2301494" y="3429"/>
                  </a:cubicBezTo>
                  <a:cubicBezTo>
                    <a:pt x="2303780" y="5715"/>
                    <a:pt x="2304923" y="8509"/>
                    <a:pt x="2304923" y="11811"/>
                  </a:cubicBezTo>
                  <a:lnTo>
                    <a:pt x="2304923" y="1635760"/>
                  </a:lnTo>
                  <a:cubicBezTo>
                    <a:pt x="2304923" y="1639062"/>
                    <a:pt x="2303780" y="1641856"/>
                    <a:pt x="2301494" y="1644142"/>
                  </a:cubicBezTo>
                  <a:cubicBezTo>
                    <a:pt x="2299208" y="1646428"/>
                    <a:pt x="2296414" y="1647571"/>
                    <a:pt x="2293112" y="1647571"/>
                  </a:cubicBezTo>
                  <a:lnTo>
                    <a:pt x="11938" y="1647571"/>
                  </a:lnTo>
                  <a:cubicBezTo>
                    <a:pt x="8636" y="1647571"/>
                    <a:pt x="5842" y="1646428"/>
                    <a:pt x="3556" y="1644142"/>
                  </a:cubicBezTo>
                  <a:cubicBezTo>
                    <a:pt x="1270" y="1641856"/>
                    <a:pt x="127" y="1639062"/>
                    <a:pt x="127" y="1635760"/>
                  </a:cubicBez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34950" y="692277"/>
              <a:ext cx="2323973" cy="1666621"/>
            </a:xfrm>
            <a:custGeom>
              <a:avLst/>
              <a:gdLst/>
              <a:ahLst/>
              <a:cxnLst/>
              <a:rect r="r" b="b" t="t" l="l"/>
              <a:pathLst>
                <a:path h="1666621" w="2323973">
                  <a:moveTo>
                    <a:pt x="0" y="1645285"/>
                  </a:moveTo>
                  <a:lnTo>
                    <a:pt x="0" y="21336"/>
                  </a:lnTo>
                  <a:lnTo>
                    <a:pt x="9525" y="21336"/>
                  </a:lnTo>
                  <a:lnTo>
                    <a:pt x="0" y="21336"/>
                  </a:lnTo>
                  <a:cubicBezTo>
                    <a:pt x="0" y="15494"/>
                    <a:pt x="2159" y="10287"/>
                    <a:pt x="6223" y="6223"/>
                  </a:cubicBezTo>
                  <a:cubicBezTo>
                    <a:pt x="10287" y="2159"/>
                    <a:pt x="15621" y="0"/>
                    <a:pt x="21336" y="0"/>
                  </a:cubicBezTo>
                  <a:lnTo>
                    <a:pt x="21336" y="9525"/>
                  </a:lnTo>
                  <a:lnTo>
                    <a:pt x="21336" y="0"/>
                  </a:lnTo>
                  <a:lnTo>
                    <a:pt x="2302637" y="0"/>
                  </a:lnTo>
                  <a:lnTo>
                    <a:pt x="2302637" y="9525"/>
                  </a:lnTo>
                  <a:lnTo>
                    <a:pt x="2302637" y="0"/>
                  </a:lnTo>
                  <a:cubicBezTo>
                    <a:pt x="2308479" y="0"/>
                    <a:pt x="2313686" y="2159"/>
                    <a:pt x="2317750" y="6223"/>
                  </a:cubicBezTo>
                  <a:lnTo>
                    <a:pt x="2311019" y="12954"/>
                  </a:lnTo>
                  <a:lnTo>
                    <a:pt x="2317750" y="6223"/>
                  </a:lnTo>
                  <a:cubicBezTo>
                    <a:pt x="2321814" y="10287"/>
                    <a:pt x="2323973" y="15621"/>
                    <a:pt x="2323973" y="21336"/>
                  </a:cubicBezTo>
                  <a:lnTo>
                    <a:pt x="2314448" y="21336"/>
                  </a:lnTo>
                  <a:lnTo>
                    <a:pt x="2323973" y="21336"/>
                  </a:lnTo>
                  <a:lnTo>
                    <a:pt x="2323973" y="1645285"/>
                  </a:lnTo>
                  <a:lnTo>
                    <a:pt x="2314448" y="1645285"/>
                  </a:lnTo>
                  <a:lnTo>
                    <a:pt x="2323973" y="1645285"/>
                  </a:lnTo>
                  <a:cubicBezTo>
                    <a:pt x="2323973" y="1651127"/>
                    <a:pt x="2321814" y="1656334"/>
                    <a:pt x="2317750" y="1660398"/>
                  </a:cubicBezTo>
                  <a:cubicBezTo>
                    <a:pt x="2313686" y="1664462"/>
                    <a:pt x="2308352" y="1666621"/>
                    <a:pt x="2302637" y="1666621"/>
                  </a:cubicBezTo>
                  <a:lnTo>
                    <a:pt x="21463" y="1666621"/>
                  </a:lnTo>
                  <a:cubicBezTo>
                    <a:pt x="15621" y="1666621"/>
                    <a:pt x="10414" y="1664462"/>
                    <a:pt x="6350" y="1660398"/>
                  </a:cubicBezTo>
                  <a:cubicBezTo>
                    <a:pt x="2286" y="1656334"/>
                    <a:pt x="127" y="1651000"/>
                    <a:pt x="127" y="1645285"/>
                  </a:cubicBezTo>
                  <a:lnTo>
                    <a:pt x="9652" y="1645285"/>
                  </a:lnTo>
                  <a:lnTo>
                    <a:pt x="0" y="1645285"/>
                  </a:lnTo>
                  <a:moveTo>
                    <a:pt x="19050" y="1645285"/>
                  </a:moveTo>
                  <a:cubicBezTo>
                    <a:pt x="19050" y="1646047"/>
                    <a:pt x="19177" y="1646428"/>
                    <a:pt x="19685" y="1646936"/>
                  </a:cubicBezTo>
                  <a:lnTo>
                    <a:pt x="12954" y="1653667"/>
                  </a:lnTo>
                  <a:lnTo>
                    <a:pt x="19685" y="1646936"/>
                  </a:lnTo>
                  <a:cubicBezTo>
                    <a:pt x="20193" y="1647444"/>
                    <a:pt x="20574" y="1647571"/>
                    <a:pt x="21336" y="1647571"/>
                  </a:cubicBezTo>
                  <a:lnTo>
                    <a:pt x="21336" y="1657096"/>
                  </a:lnTo>
                  <a:lnTo>
                    <a:pt x="21336" y="1647571"/>
                  </a:lnTo>
                  <a:lnTo>
                    <a:pt x="2302637" y="1647571"/>
                  </a:lnTo>
                  <a:lnTo>
                    <a:pt x="2302637" y="1657223"/>
                  </a:lnTo>
                  <a:lnTo>
                    <a:pt x="2302637" y="1647698"/>
                  </a:lnTo>
                  <a:cubicBezTo>
                    <a:pt x="2303399" y="1647698"/>
                    <a:pt x="2303780" y="1647571"/>
                    <a:pt x="2304288" y="1647063"/>
                  </a:cubicBezTo>
                  <a:lnTo>
                    <a:pt x="2311019" y="1653794"/>
                  </a:lnTo>
                  <a:lnTo>
                    <a:pt x="2304288" y="1647063"/>
                  </a:lnTo>
                  <a:cubicBezTo>
                    <a:pt x="2304796" y="1646555"/>
                    <a:pt x="2304923" y="1646174"/>
                    <a:pt x="2304923" y="1645412"/>
                  </a:cubicBezTo>
                  <a:lnTo>
                    <a:pt x="2304923" y="21336"/>
                  </a:lnTo>
                  <a:cubicBezTo>
                    <a:pt x="2304923" y="20574"/>
                    <a:pt x="2304796" y="20193"/>
                    <a:pt x="2304288" y="19685"/>
                  </a:cubicBezTo>
                  <a:cubicBezTo>
                    <a:pt x="2303780" y="19177"/>
                    <a:pt x="2303399" y="19050"/>
                    <a:pt x="2302637" y="19050"/>
                  </a:cubicBezTo>
                  <a:lnTo>
                    <a:pt x="21463" y="19050"/>
                  </a:lnTo>
                  <a:cubicBezTo>
                    <a:pt x="20701" y="19050"/>
                    <a:pt x="20320" y="19177"/>
                    <a:pt x="19812" y="19685"/>
                  </a:cubicBezTo>
                  <a:lnTo>
                    <a:pt x="13081" y="12954"/>
                  </a:lnTo>
                  <a:lnTo>
                    <a:pt x="19812" y="19685"/>
                  </a:lnTo>
                  <a:cubicBezTo>
                    <a:pt x="19304" y="20193"/>
                    <a:pt x="19177" y="20574"/>
                    <a:pt x="19177" y="21336"/>
                  </a:cubicBezTo>
                  <a:lnTo>
                    <a:pt x="19177" y="1645285"/>
                  </a:ln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15798" y="1339723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207264" y="0"/>
                  </a:lnTo>
                  <a:cubicBezTo>
                    <a:pt x="210058" y="0"/>
                    <a:pt x="212852" y="508"/>
                    <a:pt x="215519" y="1651"/>
                  </a:cubicBezTo>
                  <a:cubicBezTo>
                    <a:pt x="218186" y="2794"/>
                    <a:pt x="220472" y="4318"/>
                    <a:pt x="222504" y="6350"/>
                  </a:cubicBezTo>
                  <a:cubicBezTo>
                    <a:pt x="224536" y="8382"/>
                    <a:pt x="226060" y="10668"/>
                    <a:pt x="227203" y="13335"/>
                  </a:cubicBezTo>
                  <a:cubicBezTo>
                    <a:pt x="228346" y="16002"/>
                    <a:pt x="228854" y="18669"/>
                    <a:pt x="228854" y="21590"/>
                  </a:cubicBezTo>
                  <a:lnTo>
                    <a:pt x="228854" y="207264"/>
                  </a:lnTo>
                  <a:cubicBezTo>
                    <a:pt x="228854" y="210058"/>
                    <a:pt x="228346" y="212852"/>
                    <a:pt x="227203" y="215519"/>
                  </a:cubicBezTo>
                  <a:cubicBezTo>
                    <a:pt x="226060" y="218186"/>
                    <a:pt x="224536" y="220472"/>
                    <a:pt x="222504" y="222504"/>
                  </a:cubicBezTo>
                  <a:cubicBezTo>
                    <a:pt x="220472" y="224536"/>
                    <a:pt x="218186" y="226060"/>
                    <a:pt x="215519" y="227203"/>
                  </a:cubicBezTo>
                  <a:cubicBezTo>
                    <a:pt x="212852" y="228346"/>
                    <a:pt x="210185" y="228854"/>
                    <a:pt x="207264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11073" y="1339723"/>
              <a:ext cx="581533" cy="228854"/>
            </a:xfrm>
            <a:custGeom>
              <a:avLst/>
              <a:gdLst/>
              <a:ahLst/>
              <a:cxnLst/>
              <a:rect r="r" b="b" t="t" l="l"/>
              <a:pathLst>
                <a:path h="228854" w="581533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559943" y="0"/>
                  </a:lnTo>
                  <a:cubicBezTo>
                    <a:pt x="562737" y="0"/>
                    <a:pt x="565531" y="508"/>
                    <a:pt x="568198" y="1651"/>
                  </a:cubicBezTo>
                  <a:cubicBezTo>
                    <a:pt x="570865" y="2794"/>
                    <a:pt x="573151" y="4318"/>
                    <a:pt x="575183" y="6350"/>
                  </a:cubicBezTo>
                  <a:cubicBezTo>
                    <a:pt x="577215" y="8382"/>
                    <a:pt x="578739" y="10668"/>
                    <a:pt x="579882" y="13335"/>
                  </a:cubicBezTo>
                  <a:cubicBezTo>
                    <a:pt x="581025" y="16002"/>
                    <a:pt x="581533" y="18669"/>
                    <a:pt x="581533" y="21590"/>
                  </a:cubicBezTo>
                  <a:lnTo>
                    <a:pt x="581533" y="207264"/>
                  </a:lnTo>
                  <a:cubicBezTo>
                    <a:pt x="581533" y="210058"/>
                    <a:pt x="581025" y="212852"/>
                    <a:pt x="579882" y="215519"/>
                  </a:cubicBezTo>
                  <a:cubicBezTo>
                    <a:pt x="578739" y="218186"/>
                    <a:pt x="577215" y="220472"/>
                    <a:pt x="575183" y="222504"/>
                  </a:cubicBezTo>
                  <a:cubicBezTo>
                    <a:pt x="573151" y="224536"/>
                    <a:pt x="570865" y="226060"/>
                    <a:pt x="568198" y="227203"/>
                  </a:cubicBezTo>
                  <a:cubicBezTo>
                    <a:pt x="565531" y="228346"/>
                    <a:pt x="562864" y="228854"/>
                    <a:pt x="559943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58773" y="1339723"/>
              <a:ext cx="667131" cy="228854"/>
            </a:xfrm>
            <a:custGeom>
              <a:avLst/>
              <a:gdLst/>
              <a:ahLst/>
              <a:cxnLst/>
              <a:rect r="r" b="b" t="t" l="l"/>
              <a:pathLst>
                <a:path h="228854" w="667131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645541" y="0"/>
                  </a:lnTo>
                  <a:cubicBezTo>
                    <a:pt x="648335" y="0"/>
                    <a:pt x="651129" y="508"/>
                    <a:pt x="653796" y="1651"/>
                  </a:cubicBezTo>
                  <a:cubicBezTo>
                    <a:pt x="656463" y="2794"/>
                    <a:pt x="658749" y="4318"/>
                    <a:pt x="660781" y="6350"/>
                  </a:cubicBezTo>
                  <a:cubicBezTo>
                    <a:pt x="662813" y="8382"/>
                    <a:pt x="664337" y="10668"/>
                    <a:pt x="665480" y="13335"/>
                  </a:cubicBezTo>
                  <a:cubicBezTo>
                    <a:pt x="666623" y="16002"/>
                    <a:pt x="667131" y="18669"/>
                    <a:pt x="667131" y="21590"/>
                  </a:cubicBezTo>
                  <a:lnTo>
                    <a:pt x="667131" y="207264"/>
                  </a:lnTo>
                  <a:cubicBezTo>
                    <a:pt x="667131" y="210058"/>
                    <a:pt x="666623" y="212852"/>
                    <a:pt x="665480" y="215519"/>
                  </a:cubicBezTo>
                  <a:cubicBezTo>
                    <a:pt x="664337" y="218186"/>
                    <a:pt x="662813" y="220472"/>
                    <a:pt x="660781" y="222504"/>
                  </a:cubicBezTo>
                  <a:cubicBezTo>
                    <a:pt x="658749" y="224536"/>
                    <a:pt x="656463" y="226060"/>
                    <a:pt x="653796" y="227203"/>
                  </a:cubicBezTo>
                  <a:cubicBezTo>
                    <a:pt x="651129" y="228346"/>
                    <a:pt x="648462" y="228854"/>
                    <a:pt x="645541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15798" y="1625473"/>
              <a:ext cx="371729" cy="228854"/>
            </a:xfrm>
            <a:custGeom>
              <a:avLst/>
              <a:gdLst/>
              <a:ahLst/>
              <a:cxnLst/>
              <a:rect r="r" b="b" t="t" l="l"/>
              <a:pathLst>
                <a:path h="228854" w="371729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50139" y="0"/>
                  </a:lnTo>
                  <a:cubicBezTo>
                    <a:pt x="352933" y="0"/>
                    <a:pt x="355727" y="508"/>
                    <a:pt x="358394" y="1651"/>
                  </a:cubicBezTo>
                  <a:cubicBezTo>
                    <a:pt x="361061" y="2794"/>
                    <a:pt x="363347" y="4318"/>
                    <a:pt x="365379" y="6350"/>
                  </a:cubicBezTo>
                  <a:cubicBezTo>
                    <a:pt x="367411" y="8382"/>
                    <a:pt x="368935" y="10668"/>
                    <a:pt x="370078" y="13335"/>
                  </a:cubicBezTo>
                  <a:cubicBezTo>
                    <a:pt x="371221" y="16002"/>
                    <a:pt x="371729" y="18669"/>
                    <a:pt x="371729" y="21590"/>
                  </a:cubicBezTo>
                  <a:lnTo>
                    <a:pt x="371729" y="207264"/>
                  </a:lnTo>
                  <a:cubicBezTo>
                    <a:pt x="371729" y="210058"/>
                    <a:pt x="371221" y="212852"/>
                    <a:pt x="370078" y="215519"/>
                  </a:cubicBezTo>
                  <a:cubicBezTo>
                    <a:pt x="368935" y="218186"/>
                    <a:pt x="367411" y="220472"/>
                    <a:pt x="365379" y="222504"/>
                  </a:cubicBezTo>
                  <a:cubicBezTo>
                    <a:pt x="363347" y="224536"/>
                    <a:pt x="361061" y="226060"/>
                    <a:pt x="358394" y="227203"/>
                  </a:cubicBezTo>
                  <a:cubicBezTo>
                    <a:pt x="355727" y="228346"/>
                    <a:pt x="353060" y="228854"/>
                    <a:pt x="350139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40025" y="701802"/>
              <a:ext cx="2295398" cy="1647571"/>
            </a:xfrm>
            <a:custGeom>
              <a:avLst/>
              <a:gdLst/>
              <a:ahLst/>
              <a:cxnLst/>
              <a:rect r="r" b="b" t="t" l="l"/>
              <a:pathLst>
                <a:path h="1647571" w="2295398">
                  <a:moveTo>
                    <a:pt x="0" y="1635760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283587" y="0"/>
                  </a:lnTo>
                  <a:cubicBezTo>
                    <a:pt x="2286889" y="0"/>
                    <a:pt x="2289683" y="1143"/>
                    <a:pt x="2291969" y="3429"/>
                  </a:cubicBezTo>
                  <a:cubicBezTo>
                    <a:pt x="2294255" y="5715"/>
                    <a:pt x="2295398" y="8509"/>
                    <a:pt x="2295398" y="11811"/>
                  </a:cubicBezTo>
                  <a:lnTo>
                    <a:pt x="2295398" y="1635760"/>
                  </a:lnTo>
                  <a:cubicBezTo>
                    <a:pt x="2295398" y="1639062"/>
                    <a:pt x="2294255" y="1641856"/>
                    <a:pt x="2291969" y="1644142"/>
                  </a:cubicBezTo>
                  <a:cubicBezTo>
                    <a:pt x="2289683" y="1646428"/>
                    <a:pt x="2286889" y="1647571"/>
                    <a:pt x="2283587" y="1647571"/>
                  </a:cubicBezTo>
                  <a:lnTo>
                    <a:pt x="11938" y="1647571"/>
                  </a:lnTo>
                  <a:cubicBezTo>
                    <a:pt x="8636" y="1647571"/>
                    <a:pt x="5842" y="1646428"/>
                    <a:pt x="3556" y="1644142"/>
                  </a:cubicBezTo>
                  <a:cubicBezTo>
                    <a:pt x="1270" y="1641856"/>
                    <a:pt x="127" y="1639062"/>
                    <a:pt x="127" y="1635760"/>
                  </a:cubicBez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30500" y="692277"/>
              <a:ext cx="2314448" cy="1666621"/>
            </a:xfrm>
            <a:custGeom>
              <a:avLst/>
              <a:gdLst/>
              <a:ahLst/>
              <a:cxnLst/>
              <a:rect r="r" b="b" t="t" l="l"/>
              <a:pathLst>
                <a:path h="1666621" w="2314448">
                  <a:moveTo>
                    <a:pt x="0" y="1645285"/>
                  </a:moveTo>
                  <a:lnTo>
                    <a:pt x="0" y="21336"/>
                  </a:lnTo>
                  <a:lnTo>
                    <a:pt x="9525" y="21336"/>
                  </a:lnTo>
                  <a:lnTo>
                    <a:pt x="0" y="21336"/>
                  </a:lnTo>
                  <a:cubicBezTo>
                    <a:pt x="0" y="15494"/>
                    <a:pt x="2159" y="10287"/>
                    <a:pt x="6223" y="6223"/>
                  </a:cubicBezTo>
                  <a:lnTo>
                    <a:pt x="12954" y="12954"/>
                  </a:lnTo>
                  <a:lnTo>
                    <a:pt x="6223" y="6223"/>
                  </a:lnTo>
                  <a:cubicBezTo>
                    <a:pt x="10287" y="2159"/>
                    <a:pt x="15621" y="0"/>
                    <a:pt x="21336" y="0"/>
                  </a:cubicBezTo>
                  <a:lnTo>
                    <a:pt x="21336" y="9525"/>
                  </a:lnTo>
                  <a:lnTo>
                    <a:pt x="21336" y="0"/>
                  </a:lnTo>
                  <a:lnTo>
                    <a:pt x="2293112" y="0"/>
                  </a:lnTo>
                  <a:lnTo>
                    <a:pt x="2293112" y="9525"/>
                  </a:lnTo>
                  <a:lnTo>
                    <a:pt x="2293112" y="0"/>
                  </a:lnTo>
                  <a:cubicBezTo>
                    <a:pt x="2298954" y="0"/>
                    <a:pt x="2304161" y="2159"/>
                    <a:pt x="2308225" y="6223"/>
                  </a:cubicBezTo>
                  <a:cubicBezTo>
                    <a:pt x="2312289" y="10287"/>
                    <a:pt x="2314448" y="15621"/>
                    <a:pt x="2314448" y="21336"/>
                  </a:cubicBezTo>
                  <a:lnTo>
                    <a:pt x="2304923" y="21336"/>
                  </a:lnTo>
                  <a:lnTo>
                    <a:pt x="2314448" y="21336"/>
                  </a:lnTo>
                  <a:lnTo>
                    <a:pt x="2314448" y="1645285"/>
                  </a:lnTo>
                  <a:lnTo>
                    <a:pt x="2304923" y="1645285"/>
                  </a:lnTo>
                  <a:lnTo>
                    <a:pt x="2314448" y="1645285"/>
                  </a:lnTo>
                  <a:cubicBezTo>
                    <a:pt x="2314448" y="1651127"/>
                    <a:pt x="2312289" y="1656334"/>
                    <a:pt x="2308225" y="1660398"/>
                  </a:cubicBezTo>
                  <a:cubicBezTo>
                    <a:pt x="2304161" y="1664462"/>
                    <a:pt x="2298827" y="1666621"/>
                    <a:pt x="2293112" y="1666621"/>
                  </a:cubicBezTo>
                  <a:lnTo>
                    <a:pt x="21463" y="1666621"/>
                  </a:lnTo>
                  <a:cubicBezTo>
                    <a:pt x="15621" y="1666621"/>
                    <a:pt x="10414" y="1664462"/>
                    <a:pt x="6350" y="1660398"/>
                  </a:cubicBezTo>
                  <a:cubicBezTo>
                    <a:pt x="2286" y="1656334"/>
                    <a:pt x="127" y="1651000"/>
                    <a:pt x="127" y="1645285"/>
                  </a:cubicBezTo>
                  <a:lnTo>
                    <a:pt x="9652" y="1645285"/>
                  </a:lnTo>
                  <a:lnTo>
                    <a:pt x="0" y="1645285"/>
                  </a:lnTo>
                  <a:moveTo>
                    <a:pt x="19050" y="1645285"/>
                  </a:moveTo>
                  <a:cubicBezTo>
                    <a:pt x="19050" y="1646047"/>
                    <a:pt x="19177" y="1646428"/>
                    <a:pt x="19685" y="1646936"/>
                  </a:cubicBezTo>
                  <a:lnTo>
                    <a:pt x="12954" y="1653667"/>
                  </a:lnTo>
                  <a:lnTo>
                    <a:pt x="19685" y="1646936"/>
                  </a:lnTo>
                  <a:cubicBezTo>
                    <a:pt x="20193" y="1647444"/>
                    <a:pt x="20574" y="1647571"/>
                    <a:pt x="21336" y="1647571"/>
                  </a:cubicBezTo>
                  <a:lnTo>
                    <a:pt x="21336" y="1657096"/>
                  </a:lnTo>
                  <a:lnTo>
                    <a:pt x="21336" y="1647571"/>
                  </a:lnTo>
                  <a:lnTo>
                    <a:pt x="2293112" y="1647571"/>
                  </a:lnTo>
                  <a:lnTo>
                    <a:pt x="2293112" y="1657223"/>
                  </a:lnTo>
                  <a:lnTo>
                    <a:pt x="2293112" y="1647698"/>
                  </a:lnTo>
                  <a:cubicBezTo>
                    <a:pt x="2293874" y="1647698"/>
                    <a:pt x="2294255" y="1647571"/>
                    <a:pt x="2294763" y="1646936"/>
                  </a:cubicBezTo>
                  <a:lnTo>
                    <a:pt x="2301494" y="1653667"/>
                  </a:lnTo>
                  <a:lnTo>
                    <a:pt x="2294763" y="1646936"/>
                  </a:lnTo>
                  <a:cubicBezTo>
                    <a:pt x="2295271" y="1646428"/>
                    <a:pt x="2295398" y="1646047"/>
                    <a:pt x="2295398" y="1645285"/>
                  </a:cubicBezTo>
                  <a:lnTo>
                    <a:pt x="2295398" y="21336"/>
                  </a:lnTo>
                  <a:cubicBezTo>
                    <a:pt x="2295398" y="20574"/>
                    <a:pt x="2295271" y="20193"/>
                    <a:pt x="2294763" y="19685"/>
                  </a:cubicBezTo>
                  <a:lnTo>
                    <a:pt x="2301494" y="12954"/>
                  </a:lnTo>
                  <a:lnTo>
                    <a:pt x="2294763" y="19685"/>
                  </a:lnTo>
                  <a:cubicBezTo>
                    <a:pt x="2294255" y="19177"/>
                    <a:pt x="2293874" y="19050"/>
                    <a:pt x="2293112" y="19050"/>
                  </a:cubicBezTo>
                  <a:lnTo>
                    <a:pt x="21463" y="19050"/>
                  </a:lnTo>
                  <a:cubicBezTo>
                    <a:pt x="20701" y="19050"/>
                    <a:pt x="20320" y="19177"/>
                    <a:pt x="19812" y="19685"/>
                  </a:cubicBezTo>
                  <a:cubicBezTo>
                    <a:pt x="19304" y="20193"/>
                    <a:pt x="19177" y="20574"/>
                    <a:pt x="19177" y="21336"/>
                  </a:cubicBezTo>
                  <a:lnTo>
                    <a:pt x="19177" y="1645285"/>
                  </a:lnTo>
                  <a:close/>
                </a:path>
              </a:pathLst>
            </a:custGeom>
            <a:solidFill>
              <a:srgbClr val="5CC97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911348" y="1339723"/>
              <a:ext cx="476631" cy="228854"/>
            </a:xfrm>
            <a:custGeom>
              <a:avLst/>
              <a:gdLst/>
              <a:ahLst/>
              <a:cxnLst/>
              <a:rect r="r" b="b" t="t" l="l"/>
              <a:pathLst>
                <a:path h="228854" w="476631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455041" y="0"/>
                  </a:lnTo>
                  <a:cubicBezTo>
                    <a:pt x="457835" y="0"/>
                    <a:pt x="460629" y="508"/>
                    <a:pt x="463296" y="1651"/>
                  </a:cubicBezTo>
                  <a:cubicBezTo>
                    <a:pt x="465963" y="2794"/>
                    <a:pt x="468249" y="4318"/>
                    <a:pt x="470281" y="6350"/>
                  </a:cubicBezTo>
                  <a:cubicBezTo>
                    <a:pt x="472313" y="8382"/>
                    <a:pt x="473837" y="10668"/>
                    <a:pt x="474980" y="13335"/>
                  </a:cubicBezTo>
                  <a:cubicBezTo>
                    <a:pt x="476123" y="16002"/>
                    <a:pt x="476631" y="18669"/>
                    <a:pt x="476631" y="21590"/>
                  </a:cubicBezTo>
                  <a:lnTo>
                    <a:pt x="476631" y="207264"/>
                  </a:lnTo>
                  <a:cubicBezTo>
                    <a:pt x="476631" y="210058"/>
                    <a:pt x="476123" y="212852"/>
                    <a:pt x="474980" y="215519"/>
                  </a:cubicBezTo>
                  <a:cubicBezTo>
                    <a:pt x="473837" y="218186"/>
                    <a:pt x="472313" y="220472"/>
                    <a:pt x="470281" y="222504"/>
                  </a:cubicBezTo>
                  <a:cubicBezTo>
                    <a:pt x="468249" y="224536"/>
                    <a:pt x="465963" y="226060"/>
                    <a:pt x="463296" y="227203"/>
                  </a:cubicBezTo>
                  <a:cubicBezTo>
                    <a:pt x="460629" y="228346"/>
                    <a:pt x="457962" y="228854"/>
                    <a:pt x="455041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46747" y="3451222"/>
            <a:ext cx="5280022" cy="4108447"/>
            <a:chOff x="0" y="0"/>
            <a:chExt cx="5280025" cy="4108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373" y="63500"/>
              <a:ext cx="5153279" cy="3981577"/>
            </a:xfrm>
            <a:custGeom>
              <a:avLst/>
              <a:gdLst/>
              <a:ahLst/>
              <a:cxnLst/>
              <a:rect r="r" b="b" t="t" l="l"/>
              <a:pathLst>
                <a:path h="3981577" w="5153279">
                  <a:moveTo>
                    <a:pt x="127" y="39599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131689" y="0"/>
                  </a:lnTo>
                  <a:cubicBezTo>
                    <a:pt x="5134483" y="0"/>
                    <a:pt x="5137277" y="508"/>
                    <a:pt x="5139944" y="1651"/>
                  </a:cubicBezTo>
                  <a:cubicBezTo>
                    <a:pt x="5142611" y="2794"/>
                    <a:pt x="5144897" y="4318"/>
                    <a:pt x="5146929" y="6350"/>
                  </a:cubicBezTo>
                  <a:cubicBezTo>
                    <a:pt x="5148961" y="8382"/>
                    <a:pt x="5150485" y="10668"/>
                    <a:pt x="5151628" y="13335"/>
                  </a:cubicBezTo>
                  <a:cubicBezTo>
                    <a:pt x="5152771" y="16002"/>
                    <a:pt x="5153279" y="18669"/>
                    <a:pt x="5153279" y="21590"/>
                  </a:cubicBezTo>
                  <a:lnTo>
                    <a:pt x="5153279" y="3959987"/>
                  </a:lnTo>
                  <a:cubicBezTo>
                    <a:pt x="5153279" y="3962781"/>
                    <a:pt x="5152771" y="3965575"/>
                    <a:pt x="5151628" y="3968242"/>
                  </a:cubicBezTo>
                  <a:cubicBezTo>
                    <a:pt x="5150485" y="3970909"/>
                    <a:pt x="5148961" y="3973195"/>
                    <a:pt x="5146929" y="3975227"/>
                  </a:cubicBezTo>
                  <a:cubicBezTo>
                    <a:pt x="5144897" y="3977259"/>
                    <a:pt x="5142611" y="3978783"/>
                    <a:pt x="5139944" y="3979926"/>
                  </a:cubicBezTo>
                  <a:cubicBezTo>
                    <a:pt x="5137277" y="3981069"/>
                    <a:pt x="5134610" y="3981577"/>
                    <a:pt x="5131689" y="3981577"/>
                  </a:cubicBezTo>
                  <a:lnTo>
                    <a:pt x="21590" y="3981577"/>
                  </a:lnTo>
                  <a:cubicBezTo>
                    <a:pt x="18796" y="3981577"/>
                    <a:pt x="16002" y="3981069"/>
                    <a:pt x="13335" y="3979926"/>
                  </a:cubicBezTo>
                  <a:cubicBezTo>
                    <a:pt x="10668" y="3978783"/>
                    <a:pt x="8382" y="3977259"/>
                    <a:pt x="6350" y="3975227"/>
                  </a:cubicBezTo>
                  <a:cubicBezTo>
                    <a:pt x="4318" y="3973195"/>
                    <a:pt x="2794" y="3970909"/>
                    <a:pt x="1651" y="3968242"/>
                  </a:cubicBezTo>
                  <a:cubicBezTo>
                    <a:pt x="508" y="3965575"/>
                    <a:pt x="0" y="3962908"/>
                    <a:pt x="0" y="3959987"/>
                  </a:cubicBez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1625" y="717677"/>
              <a:ext cx="257175" cy="220218"/>
            </a:xfrm>
            <a:custGeom>
              <a:avLst/>
              <a:gdLst/>
              <a:ahLst/>
              <a:cxnLst/>
              <a:rect r="r" b="b" t="t" l="l"/>
              <a:pathLst>
                <a:path h="220218" w="257175">
                  <a:moveTo>
                    <a:pt x="254508" y="116713"/>
                  </a:moveTo>
                  <a:cubicBezTo>
                    <a:pt x="258064" y="113157"/>
                    <a:pt x="258064" y="107315"/>
                    <a:pt x="254508" y="103759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5"/>
                  </a:lnTo>
                  <a:lnTo>
                    <a:pt x="9144" y="100965"/>
                  </a:lnTo>
                  <a:cubicBezTo>
                    <a:pt x="4064" y="100965"/>
                    <a:pt x="0" y="105156"/>
                    <a:pt x="0" y="110109"/>
                  </a:cubicBezTo>
                  <a:cubicBezTo>
                    <a:pt x="0" y="115062"/>
                    <a:pt x="4191" y="119253"/>
                    <a:pt x="9144" y="119253"/>
                  </a:cubicBezTo>
                  <a:lnTo>
                    <a:pt x="225806" y="119253"/>
                  </a:lnTo>
                  <a:lnTo>
                    <a:pt x="140462" y="204597"/>
                  </a:lnTo>
                  <a:cubicBezTo>
                    <a:pt x="136906" y="208153"/>
                    <a:pt x="136906" y="213995"/>
                    <a:pt x="140462" y="217551"/>
                  </a:cubicBezTo>
                  <a:cubicBezTo>
                    <a:pt x="144018" y="221107"/>
                    <a:pt x="149860" y="221107"/>
                    <a:pt x="153416" y="217551"/>
                  </a:cubicBezTo>
                  <a:lnTo>
                    <a:pt x="254508" y="11645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730248" y="711073"/>
              <a:ext cx="495681" cy="228854"/>
            </a:xfrm>
            <a:custGeom>
              <a:avLst/>
              <a:gdLst/>
              <a:ahLst/>
              <a:cxnLst/>
              <a:rect r="r" b="b" t="t" l="l"/>
              <a:pathLst>
                <a:path h="228854" w="495681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474091" y="0"/>
                  </a:lnTo>
                  <a:cubicBezTo>
                    <a:pt x="476885" y="0"/>
                    <a:pt x="479679" y="508"/>
                    <a:pt x="482346" y="1651"/>
                  </a:cubicBezTo>
                  <a:cubicBezTo>
                    <a:pt x="485013" y="2794"/>
                    <a:pt x="487299" y="4318"/>
                    <a:pt x="489331" y="6350"/>
                  </a:cubicBezTo>
                  <a:cubicBezTo>
                    <a:pt x="491363" y="8382"/>
                    <a:pt x="492887" y="10668"/>
                    <a:pt x="494030" y="13335"/>
                  </a:cubicBezTo>
                  <a:cubicBezTo>
                    <a:pt x="495173" y="16002"/>
                    <a:pt x="495681" y="18669"/>
                    <a:pt x="495681" y="21590"/>
                  </a:cubicBezTo>
                  <a:lnTo>
                    <a:pt x="495681" y="207264"/>
                  </a:lnTo>
                  <a:cubicBezTo>
                    <a:pt x="495681" y="210058"/>
                    <a:pt x="495173" y="212852"/>
                    <a:pt x="494030" y="215519"/>
                  </a:cubicBezTo>
                  <a:cubicBezTo>
                    <a:pt x="492887" y="218186"/>
                    <a:pt x="491363" y="220472"/>
                    <a:pt x="489331" y="222504"/>
                  </a:cubicBezTo>
                  <a:cubicBezTo>
                    <a:pt x="487299" y="224536"/>
                    <a:pt x="485013" y="226060"/>
                    <a:pt x="482346" y="227203"/>
                  </a:cubicBezTo>
                  <a:cubicBezTo>
                    <a:pt x="479679" y="228346"/>
                    <a:pt x="477012" y="228854"/>
                    <a:pt x="474091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292223" y="711073"/>
              <a:ext cx="248031" cy="228854"/>
            </a:xfrm>
            <a:custGeom>
              <a:avLst/>
              <a:gdLst/>
              <a:ahLst/>
              <a:cxnLst/>
              <a:rect r="r" b="b" t="t" l="l"/>
              <a:pathLst>
                <a:path h="228854" w="248031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226441" y="0"/>
                  </a:lnTo>
                  <a:cubicBezTo>
                    <a:pt x="229235" y="0"/>
                    <a:pt x="232029" y="508"/>
                    <a:pt x="234696" y="1651"/>
                  </a:cubicBezTo>
                  <a:cubicBezTo>
                    <a:pt x="237363" y="2794"/>
                    <a:pt x="239649" y="4318"/>
                    <a:pt x="241681" y="6350"/>
                  </a:cubicBezTo>
                  <a:cubicBezTo>
                    <a:pt x="243713" y="8382"/>
                    <a:pt x="245237" y="10668"/>
                    <a:pt x="246380" y="13335"/>
                  </a:cubicBezTo>
                  <a:cubicBezTo>
                    <a:pt x="247523" y="16002"/>
                    <a:pt x="248031" y="18669"/>
                    <a:pt x="248031" y="21590"/>
                  </a:cubicBezTo>
                  <a:lnTo>
                    <a:pt x="248031" y="207264"/>
                  </a:lnTo>
                  <a:cubicBezTo>
                    <a:pt x="248031" y="210058"/>
                    <a:pt x="247523" y="212852"/>
                    <a:pt x="246380" y="215519"/>
                  </a:cubicBezTo>
                  <a:cubicBezTo>
                    <a:pt x="245237" y="218186"/>
                    <a:pt x="243713" y="220472"/>
                    <a:pt x="241681" y="222504"/>
                  </a:cubicBezTo>
                  <a:cubicBezTo>
                    <a:pt x="239649" y="224536"/>
                    <a:pt x="237363" y="226060"/>
                    <a:pt x="234696" y="227203"/>
                  </a:cubicBezTo>
                  <a:cubicBezTo>
                    <a:pt x="232029" y="228346"/>
                    <a:pt x="229362" y="228854"/>
                    <a:pt x="226441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606548" y="711073"/>
              <a:ext cx="438531" cy="228854"/>
            </a:xfrm>
            <a:custGeom>
              <a:avLst/>
              <a:gdLst/>
              <a:ahLst/>
              <a:cxnLst/>
              <a:rect r="r" b="b" t="t" l="l"/>
              <a:pathLst>
                <a:path h="228854" w="438531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416941" y="0"/>
                  </a:lnTo>
                  <a:cubicBezTo>
                    <a:pt x="419735" y="0"/>
                    <a:pt x="422529" y="508"/>
                    <a:pt x="425196" y="1651"/>
                  </a:cubicBezTo>
                  <a:cubicBezTo>
                    <a:pt x="427863" y="2794"/>
                    <a:pt x="430149" y="4318"/>
                    <a:pt x="432181" y="6350"/>
                  </a:cubicBezTo>
                  <a:cubicBezTo>
                    <a:pt x="434213" y="8382"/>
                    <a:pt x="435737" y="10668"/>
                    <a:pt x="436880" y="13335"/>
                  </a:cubicBezTo>
                  <a:cubicBezTo>
                    <a:pt x="438023" y="16002"/>
                    <a:pt x="438531" y="18669"/>
                    <a:pt x="438531" y="21590"/>
                  </a:cubicBezTo>
                  <a:lnTo>
                    <a:pt x="438531" y="207264"/>
                  </a:lnTo>
                  <a:cubicBezTo>
                    <a:pt x="438531" y="210058"/>
                    <a:pt x="438023" y="212852"/>
                    <a:pt x="436880" y="215519"/>
                  </a:cubicBezTo>
                  <a:cubicBezTo>
                    <a:pt x="435737" y="218186"/>
                    <a:pt x="434213" y="220472"/>
                    <a:pt x="432181" y="222504"/>
                  </a:cubicBezTo>
                  <a:cubicBezTo>
                    <a:pt x="430149" y="224536"/>
                    <a:pt x="427863" y="226060"/>
                    <a:pt x="425196" y="227203"/>
                  </a:cubicBezTo>
                  <a:cubicBezTo>
                    <a:pt x="422529" y="228346"/>
                    <a:pt x="419862" y="228854"/>
                    <a:pt x="416941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01625" y="1584452"/>
              <a:ext cx="257175" cy="220218"/>
            </a:xfrm>
            <a:custGeom>
              <a:avLst/>
              <a:gdLst/>
              <a:ahLst/>
              <a:cxnLst/>
              <a:rect r="r" b="b" t="t" l="l"/>
              <a:pathLst>
                <a:path h="220218" w="257175">
                  <a:moveTo>
                    <a:pt x="254508" y="116713"/>
                  </a:moveTo>
                  <a:cubicBezTo>
                    <a:pt x="258064" y="113157"/>
                    <a:pt x="258064" y="107315"/>
                    <a:pt x="254508" y="103759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5"/>
                  </a:lnTo>
                  <a:lnTo>
                    <a:pt x="9144" y="100965"/>
                  </a:lnTo>
                  <a:cubicBezTo>
                    <a:pt x="4064" y="100965"/>
                    <a:pt x="0" y="105156"/>
                    <a:pt x="0" y="110109"/>
                  </a:cubicBezTo>
                  <a:cubicBezTo>
                    <a:pt x="0" y="115062"/>
                    <a:pt x="4191" y="119253"/>
                    <a:pt x="9144" y="119253"/>
                  </a:cubicBezTo>
                  <a:lnTo>
                    <a:pt x="225806" y="119253"/>
                  </a:lnTo>
                  <a:lnTo>
                    <a:pt x="140462" y="204597"/>
                  </a:lnTo>
                  <a:cubicBezTo>
                    <a:pt x="136906" y="208153"/>
                    <a:pt x="136906" y="213995"/>
                    <a:pt x="140462" y="217551"/>
                  </a:cubicBezTo>
                  <a:cubicBezTo>
                    <a:pt x="144018" y="221107"/>
                    <a:pt x="149860" y="221107"/>
                    <a:pt x="153416" y="217551"/>
                  </a:cubicBezTo>
                  <a:lnTo>
                    <a:pt x="254508" y="11645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01625" y="2451227"/>
              <a:ext cx="257175" cy="220218"/>
            </a:xfrm>
            <a:custGeom>
              <a:avLst/>
              <a:gdLst/>
              <a:ahLst/>
              <a:cxnLst/>
              <a:rect r="r" b="b" t="t" l="l"/>
              <a:pathLst>
                <a:path h="220218" w="257175">
                  <a:moveTo>
                    <a:pt x="254508" y="116713"/>
                  </a:moveTo>
                  <a:cubicBezTo>
                    <a:pt x="258064" y="113157"/>
                    <a:pt x="258064" y="107315"/>
                    <a:pt x="254508" y="103759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5"/>
                  </a:lnTo>
                  <a:lnTo>
                    <a:pt x="9144" y="100965"/>
                  </a:lnTo>
                  <a:cubicBezTo>
                    <a:pt x="4064" y="100965"/>
                    <a:pt x="0" y="105156"/>
                    <a:pt x="0" y="110109"/>
                  </a:cubicBezTo>
                  <a:cubicBezTo>
                    <a:pt x="0" y="115062"/>
                    <a:pt x="4191" y="119253"/>
                    <a:pt x="9144" y="119253"/>
                  </a:cubicBezTo>
                  <a:lnTo>
                    <a:pt x="225806" y="119253"/>
                  </a:lnTo>
                  <a:lnTo>
                    <a:pt x="140462" y="204597"/>
                  </a:lnTo>
                  <a:cubicBezTo>
                    <a:pt x="136906" y="208153"/>
                    <a:pt x="136906" y="213995"/>
                    <a:pt x="140462" y="217551"/>
                  </a:cubicBezTo>
                  <a:cubicBezTo>
                    <a:pt x="144018" y="221107"/>
                    <a:pt x="149860" y="221107"/>
                    <a:pt x="153416" y="217551"/>
                  </a:cubicBezTo>
                  <a:lnTo>
                    <a:pt x="254508" y="11645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49273" y="2444623"/>
              <a:ext cx="1438529" cy="228854"/>
            </a:xfrm>
            <a:custGeom>
              <a:avLst/>
              <a:gdLst/>
              <a:ahLst/>
              <a:cxnLst/>
              <a:rect r="r" b="b" t="t" l="l"/>
              <a:pathLst>
                <a:path h="228854" w="1438529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1416939" y="0"/>
                  </a:lnTo>
                  <a:cubicBezTo>
                    <a:pt x="1419733" y="0"/>
                    <a:pt x="1422527" y="508"/>
                    <a:pt x="1425194" y="1651"/>
                  </a:cubicBezTo>
                  <a:cubicBezTo>
                    <a:pt x="1427861" y="2794"/>
                    <a:pt x="1430147" y="4318"/>
                    <a:pt x="1432179" y="6350"/>
                  </a:cubicBezTo>
                  <a:cubicBezTo>
                    <a:pt x="1434211" y="8382"/>
                    <a:pt x="1435735" y="10668"/>
                    <a:pt x="1436878" y="13335"/>
                  </a:cubicBezTo>
                  <a:cubicBezTo>
                    <a:pt x="1438021" y="16002"/>
                    <a:pt x="1438529" y="18669"/>
                    <a:pt x="1438529" y="21590"/>
                  </a:cubicBezTo>
                  <a:lnTo>
                    <a:pt x="1438529" y="207264"/>
                  </a:lnTo>
                  <a:cubicBezTo>
                    <a:pt x="1438529" y="210058"/>
                    <a:pt x="1438021" y="212852"/>
                    <a:pt x="1436878" y="215519"/>
                  </a:cubicBezTo>
                  <a:cubicBezTo>
                    <a:pt x="1435735" y="218186"/>
                    <a:pt x="1434211" y="220472"/>
                    <a:pt x="1432179" y="222504"/>
                  </a:cubicBezTo>
                  <a:cubicBezTo>
                    <a:pt x="1430147" y="224536"/>
                    <a:pt x="1427861" y="226060"/>
                    <a:pt x="1425194" y="227203"/>
                  </a:cubicBezTo>
                  <a:cubicBezTo>
                    <a:pt x="1422527" y="228346"/>
                    <a:pt x="1419860" y="228854"/>
                    <a:pt x="1416939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01625" y="3318002"/>
              <a:ext cx="257175" cy="220218"/>
            </a:xfrm>
            <a:custGeom>
              <a:avLst/>
              <a:gdLst/>
              <a:ahLst/>
              <a:cxnLst/>
              <a:rect r="r" b="b" t="t" l="l"/>
              <a:pathLst>
                <a:path h="220218" w="257175">
                  <a:moveTo>
                    <a:pt x="254508" y="116713"/>
                  </a:moveTo>
                  <a:cubicBezTo>
                    <a:pt x="258064" y="113157"/>
                    <a:pt x="258064" y="107315"/>
                    <a:pt x="254508" y="103759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5"/>
                  </a:lnTo>
                  <a:lnTo>
                    <a:pt x="9144" y="100965"/>
                  </a:lnTo>
                  <a:cubicBezTo>
                    <a:pt x="4064" y="100965"/>
                    <a:pt x="0" y="105156"/>
                    <a:pt x="0" y="110109"/>
                  </a:cubicBezTo>
                  <a:cubicBezTo>
                    <a:pt x="0" y="115062"/>
                    <a:pt x="4191" y="119253"/>
                    <a:pt x="9144" y="119253"/>
                  </a:cubicBezTo>
                  <a:lnTo>
                    <a:pt x="225806" y="119253"/>
                  </a:lnTo>
                  <a:lnTo>
                    <a:pt x="140462" y="204597"/>
                  </a:lnTo>
                  <a:cubicBezTo>
                    <a:pt x="136906" y="208153"/>
                    <a:pt x="136906" y="213995"/>
                    <a:pt x="140462" y="217551"/>
                  </a:cubicBezTo>
                  <a:cubicBezTo>
                    <a:pt x="144018" y="221107"/>
                    <a:pt x="149860" y="221107"/>
                    <a:pt x="153416" y="217551"/>
                  </a:cubicBezTo>
                  <a:lnTo>
                    <a:pt x="254508" y="11645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368423" y="3587623"/>
              <a:ext cx="352933" cy="228854"/>
            </a:xfrm>
            <a:custGeom>
              <a:avLst/>
              <a:gdLst/>
              <a:ahLst/>
              <a:cxnLst/>
              <a:rect r="r" b="b" t="t" l="l"/>
              <a:pathLst>
                <a:path h="228854" w="352933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31343" y="0"/>
                  </a:lnTo>
                  <a:cubicBezTo>
                    <a:pt x="334137" y="0"/>
                    <a:pt x="336931" y="508"/>
                    <a:pt x="339598" y="1651"/>
                  </a:cubicBezTo>
                  <a:cubicBezTo>
                    <a:pt x="342265" y="2794"/>
                    <a:pt x="344551" y="4318"/>
                    <a:pt x="346583" y="6350"/>
                  </a:cubicBezTo>
                  <a:cubicBezTo>
                    <a:pt x="348615" y="8382"/>
                    <a:pt x="350139" y="10668"/>
                    <a:pt x="351282" y="13335"/>
                  </a:cubicBezTo>
                  <a:cubicBezTo>
                    <a:pt x="352425" y="16002"/>
                    <a:pt x="352933" y="18669"/>
                    <a:pt x="352933" y="21590"/>
                  </a:cubicBezTo>
                  <a:lnTo>
                    <a:pt x="352933" y="207264"/>
                  </a:lnTo>
                  <a:cubicBezTo>
                    <a:pt x="352933" y="210058"/>
                    <a:pt x="352425" y="212852"/>
                    <a:pt x="351282" y="215519"/>
                  </a:cubicBezTo>
                  <a:cubicBezTo>
                    <a:pt x="350139" y="218186"/>
                    <a:pt x="348615" y="220472"/>
                    <a:pt x="346583" y="222504"/>
                  </a:cubicBezTo>
                  <a:cubicBezTo>
                    <a:pt x="344551" y="224536"/>
                    <a:pt x="342265" y="226060"/>
                    <a:pt x="339598" y="227203"/>
                  </a:cubicBezTo>
                  <a:cubicBezTo>
                    <a:pt x="336931" y="228346"/>
                    <a:pt x="334264" y="228854"/>
                    <a:pt x="331343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87523" y="3587623"/>
              <a:ext cx="228981" cy="228854"/>
            </a:xfrm>
            <a:custGeom>
              <a:avLst/>
              <a:gdLst/>
              <a:ahLst/>
              <a:cxnLst/>
              <a:rect r="r" b="b" t="t" l="l"/>
              <a:pathLst>
                <a:path h="228854" w="228981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207391" y="0"/>
                  </a:lnTo>
                  <a:cubicBezTo>
                    <a:pt x="210185" y="0"/>
                    <a:pt x="212979" y="508"/>
                    <a:pt x="215646" y="1651"/>
                  </a:cubicBezTo>
                  <a:cubicBezTo>
                    <a:pt x="218313" y="2794"/>
                    <a:pt x="220599" y="4318"/>
                    <a:pt x="222631" y="6350"/>
                  </a:cubicBezTo>
                  <a:cubicBezTo>
                    <a:pt x="224663" y="8382"/>
                    <a:pt x="226187" y="10668"/>
                    <a:pt x="227330" y="13335"/>
                  </a:cubicBezTo>
                  <a:cubicBezTo>
                    <a:pt x="228473" y="16002"/>
                    <a:pt x="228981" y="18669"/>
                    <a:pt x="228981" y="21590"/>
                  </a:cubicBezTo>
                  <a:lnTo>
                    <a:pt x="228981" y="207264"/>
                  </a:lnTo>
                  <a:cubicBezTo>
                    <a:pt x="228981" y="210058"/>
                    <a:pt x="228473" y="212852"/>
                    <a:pt x="227330" y="215519"/>
                  </a:cubicBezTo>
                  <a:cubicBezTo>
                    <a:pt x="226187" y="218186"/>
                    <a:pt x="224663" y="220472"/>
                    <a:pt x="222631" y="222504"/>
                  </a:cubicBezTo>
                  <a:cubicBezTo>
                    <a:pt x="220599" y="224536"/>
                    <a:pt x="218313" y="226060"/>
                    <a:pt x="215646" y="227203"/>
                  </a:cubicBezTo>
                  <a:cubicBezTo>
                    <a:pt x="212979" y="228346"/>
                    <a:pt x="210312" y="228854"/>
                    <a:pt x="207391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A1D7B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00075" y="2755078"/>
            <a:ext cx="5683577" cy="56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60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Tipos, Control e Iteración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8648" y="4207650"/>
            <a:ext cx="1879540" cy="138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3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Primitivos</a:t>
            </a:r>
          </a:p>
          <a:p>
            <a:pPr algn="l">
              <a:lnSpc>
                <a:spcPts val="2362"/>
              </a:lnSpc>
            </a:pPr>
          </a:p>
          <a:p>
            <a:pPr algn="l">
              <a:lnSpc>
                <a:spcPts val="2200"/>
              </a:lnSpc>
            </a:pPr>
            <a:r>
              <a:rPr lang="en-US" sz="13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int, double, boolean, </a:t>
            </a:r>
          </a:p>
          <a:p>
            <a:pPr algn="l">
              <a:lnSpc>
                <a:spcPts val="2200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char — eficiencia como en 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8148" y="3706397"/>
            <a:ext cx="1530191" cy="2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3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Tipos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42988" y="4169607"/>
            <a:ext cx="1987467" cy="13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3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Objetos</a:t>
            </a:r>
          </a:p>
          <a:p>
            <a:pPr algn="l">
              <a:lnSpc>
                <a:spcPts val="2362"/>
              </a:lnSpc>
            </a:pP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String es una </a:t>
            </a:r>
            <a:r>
              <a:rPr lang="en-US" b="true" sz="135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clase con métodos</a:t>
            </a: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, no un array de chars como en 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81700" y="3706397"/>
            <a:ext cx="2404586" cy="2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3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Estructuras de control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42273" y="4127973"/>
            <a:ext cx="1371229" cy="27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if-else, for, while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55393" y="5861523"/>
            <a:ext cx="1549641" cy="27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for (String s : lista)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38912" y="5903157"/>
            <a:ext cx="730815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For-each: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38912" y="4169607"/>
            <a:ext cx="921429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Igual que C: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38912" y="5026857"/>
            <a:ext cx="1692897" cy="23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Arrays de </a:t>
            </a:r>
            <a:r>
              <a:rPr lang="en-US" b="true" sz="135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tamaño fijo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74649" y="5903157"/>
            <a:ext cx="1506569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para lectura rápida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38912" y="6722307"/>
            <a:ext cx="3859978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Métodos siempre dentro de la clase, con tipo de retorno obligatorio (void, int…)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572" y="4213222"/>
            <a:ext cx="5032372" cy="2574922"/>
          </a:xfrm>
          <a:custGeom>
            <a:avLst/>
            <a:gdLst/>
            <a:ahLst/>
            <a:cxnLst/>
            <a:rect r="r" b="b" t="t" l="l"/>
            <a:pathLst>
              <a:path h="2574922" w="5032372">
                <a:moveTo>
                  <a:pt x="0" y="0"/>
                </a:moveTo>
                <a:lnTo>
                  <a:pt x="5032372" y="0"/>
                </a:lnTo>
                <a:lnTo>
                  <a:pt x="5032372" y="2574922"/>
                </a:lnTo>
                <a:lnTo>
                  <a:pt x="0" y="2574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70572" y="4651372"/>
            <a:ext cx="2489197" cy="1746247"/>
            <a:chOff x="0" y="0"/>
            <a:chExt cx="2489200" cy="1746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373" y="63500"/>
              <a:ext cx="2362454" cy="1619377"/>
            </a:xfrm>
            <a:custGeom>
              <a:avLst/>
              <a:gdLst/>
              <a:ahLst/>
              <a:cxnLst/>
              <a:rect r="r" b="b" t="t" l="l"/>
              <a:pathLst>
                <a:path h="1619377" w="2362454">
                  <a:moveTo>
                    <a:pt x="127" y="15977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2340864" y="0"/>
                  </a:lnTo>
                  <a:cubicBezTo>
                    <a:pt x="2343658" y="0"/>
                    <a:pt x="2346452" y="508"/>
                    <a:pt x="2349119" y="1651"/>
                  </a:cubicBezTo>
                  <a:cubicBezTo>
                    <a:pt x="2351786" y="2794"/>
                    <a:pt x="2354072" y="4318"/>
                    <a:pt x="2356104" y="6350"/>
                  </a:cubicBezTo>
                  <a:cubicBezTo>
                    <a:pt x="2358136" y="8382"/>
                    <a:pt x="2359660" y="10668"/>
                    <a:pt x="2360803" y="13335"/>
                  </a:cubicBezTo>
                  <a:cubicBezTo>
                    <a:pt x="2361946" y="16002"/>
                    <a:pt x="2362454" y="18669"/>
                    <a:pt x="2362454" y="21590"/>
                  </a:cubicBezTo>
                  <a:lnTo>
                    <a:pt x="2362454" y="1597787"/>
                  </a:lnTo>
                  <a:cubicBezTo>
                    <a:pt x="2362454" y="1600581"/>
                    <a:pt x="2361946" y="1603375"/>
                    <a:pt x="2360803" y="1606042"/>
                  </a:cubicBezTo>
                  <a:cubicBezTo>
                    <a:pt x="2359660" y="1608709"/>
                    <a:pt x="2358136" y="1610995"/>
                    <a:pt x="2356104" y="1613027"/>
                  </a:cubicBezTo>
                  <a:cubicBezTo>
                    <a:pt x="2354072" y="1615059"/>
                    <a:pt x="2351786" y="1616583"/>
                    <a:pt x="2349119" y="1617726"/>
                  </a:cubicBezTo>
                  <a:cubicBezTo>
                    <a:pt x="2346452" y="1618869"/>
                    <a:pt x="2343785" y="1619377"/>
                    <a:pt x="2340864" y="1619377"/>
                  </a:cubicBezTo>
                  <a:lnTo>
                    <a:pt x="21590" y="1619377"/>
                  </a:lnTo>
                  <a:cubicBezTo>
                    <a:pt x="18796" y="1619377"/>
                    <a:pt x="16002" y="1618869"/>
                    <a:pt x="13335" y="1617726"/>
                  </a:cubicBezTo>
                  <a:cubicBezTo>
                    <a:pt x="10668" y="1616583"/>
                    <a:pt x="8382" y="1615059"/>
                    <a:pt x="6350" y="1613027"/>
                  </a:cubicBezTo>
                  <a:cubicBezTo>
                    <a:pt x="4318" y="1610995"/>
                    <a:pt x="2794" y="1608709"/>
                    <a:pt x="1651" y="1606042"/>
                  </a:cubicBezTo>
                  <a:cubicBezTo>
                    <a:pt x="508" y="1603375"/>
                    <a:pt x="0" y="1600708"/>
                    <a:pt x="0" y="159778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01673" y="968248"/>
              <a:ext cx="295783" cy="228854"/>
            </a:xfrm>
            <a:custGeom>
              <a:avLst/>
              <a:gdLst/>
              <a:ahLst/>
              <a:cxnLst/>
              <a:rect r="r" b="b" t="t" l="l"/>
              <a:pathLst>
                <a:path h="228854" w="295783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274193" y="0"/>
                  </a:lnTo>
                  <a:cubicBezTo>
                    <a:pt x="276987" y="0"/>
                    <a:pt x="279781" y="508"/>
                    <a:pt x="282448" y="1651"/>
                  </a:cubicBezTo>
                  <a:cubicBezTo>
                    <a:pt x="285115" y="2794"/>
                    <a:pt x="287401" y="4318"/>
                    <a:pt x="289433" y="6350"/>
                  </a:cubicBezTo>
                  <a:cubicBezTo>
                    <a:pt x="291465" y="8382"/>
                    <a:pt x="292989" y="10668"/>
                    <a:pt x="294132" y="13335"/>
                  </a:cubicBezTo>
                  <a:cubicBezTo>
                    <a:pt x="295275" y="16002"/>
                    <a:pt x="295783" y="18669"/>
                    <a:pt x="295783" y="21590"/>
                  </a:cubicBezTo>
                  <a:lnTo>
                    <a:pt x="295783" y="207264"/>
                  </a:lnTo>
                  <a:cubicBezTo>
                    <a:pt x="295783" y="210058"/>
                    <a:pt x="295275" y="212852"/>
                    <a:pt x="294132" y="215519"/>
                  </a:cubicBezTo>
                  <a:cubicBezTo>
                    <a:pt x="292989" y="218186"/>
                    <a:pt x="291465" y="220472"/>
                    <a:pt x="289433" y="222504"/>
                  </a:cubicBezTo>
                  <a:cubicBezTo>
                    <a:pt x="287401" y="224536"/>
                    <a:pt x="285115" y="226060"/>
                    <a:pt x="282448" y="227203"/>
                  </a:cubicBezTo>
                  <a:cubicBezTo>
                    <a:pt x="279781" y="228346"/>
                    <a:pt x="277114" y="228854"/>
                    <a:pt x="274193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3123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04222" y="4651372"/>
            <a:ext cx="2498722" cy="1746247"/>
            <a:chOff x="0" y="0"/>
            <a:chExt cx="2498725" cy="1746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373" y="63500"/>
              <a:ext cx="2371979" cy="1619377"/>
            </a:xfrm>
            <a:custGeom>
              <a:avLst/>
              <a:gdLst/>
              <a:ahLst/>
              <a:cxnLst/>
              <a:rect r="r" b="b" t="t" l="l"/>
              <a:pathLst>
                <a:path h="1619377" w="2371979">
                  <a:moveTo>
                    <a:pt x="127" y="15977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2350389" y="0"/>
                  </a:lnTo>
                  <a:cubicBezTo>
                    <a:pt x="2353183" y="0"/>
                    <a:pt x="2355977" y="508"/>
                    <a:pt x="2358644" y="1651"/>
                  </a:cubicBezTo>
                  <a:cubicBezTo>
                    <a:pt x="2361311" y="2794"/>
                    <a:pt x="2363597" y="4318"/>
                    <a:pt x="2365629" y="6350"/>
                  </a:cubicBezTo>
                  <a:cubicBezTo>
                    <a:pt x="2367661" y="8382"/>
                    <a:pt x="2369185" y="10668"/>
                    <a:pt x="2370328" y="13335"/>
                  </a:cubicBezTo>
                  <a:cubicBezTo>
                    <a:pt x="2371471" y="16002"/>
                    <a:pt x="2371979" y="18669"/>
                    <a:pt x="2371979" y="21590"/>
                  </a:cubicBezTo>
                  <a:lnTo>
                    <a:pt x="2371979" y="1597787"/>
                  </a:lnTo>
                  <a:cubicBezTo>
                    <a:pt x="2371979" y="1600581"/>
                    <a:pt x="2371471" y="1603375"/>
                    <a:pt x="2370328" y="1606042"/>
                  </a:cubicBezTo>
                  <a:cubicBezTo>
                    <a:pt x="2369185" y="1608709"/>
                    <a:pt x="2367661" y="1610995"/>
                    <a:pt x="2365629" y="1613027"/>
                  </a:cubicBezTo>
                  <a:cubicBezTo>
                    <a:pt x="2363597" y="1615059"/>
                    <a:pt x="2361311" y="1616583"/>
                    <a:pt x="2358644" y="1617726"/>
                  </a:cubicBezTo>
                  <a:cubicBezTo>
                    <a:pt x="2355977" y="1618869"/>
                    <a:pt x="2353310" y="1619377"/>
                    <a:pt x="2350389" y="1619377"/>
                  </a:cubicBezTo>
                  <a:lnTo>
                    <a:pt x="21590" y="1619377"/>
                  </a:lnTo>
                  <a:cubicBezTo>
                    <a:pt x="18796" y="1619377"/>
                    <a:pt x="16002" y="1618869"/>
                    <a:pt x="13335" y="1617726"/>
                  </a:cubicBezTo>
                  <a:cubicBezTo>
                    <a:pt x="10668" y="1616583"/>
                    <a:pt x="8382" y="1615059"/>
                    <a:pt x="6350" y="1613027"/>
                  </a:cubicBezTo>
                  <a:cubicBezTo>
                    <a:pt x="4318" y="1610995"/>
                    <a:pt x="2794" y="1608709"/>
                    <a:pt x="1651" y="1606042"/>
                  </a:cubicBezTo>
                  <a:cubicBezTo>
                    <a:pt x="508" y="1603375"/>
                    <a:pt x="0" y="1600708"/>
                    <a:pt x="0" y="1597787"/>
                  </a:cubicBezTo>
                  <a:close/>
                </a:path>
              </a:pathLst>
            </a:custGeom>
            <a:solidFill>
              <a:srgbClr val="43355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58723" y="692023"/>
              <a:ext cx="486283" cy="228854"/>
            </a:xfrm>
            <a:custGeom>
              <a:avLst/>
              <a:gdLst/>
              <a:ahLst/>
              <a:cxnLst/>
              <a:rect r="r" b="b" t="t" l="l"/>
              <a:pathLst>
                <a:path h="228854" w="486283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464693" y="0"/>
                  </a:lnTo>
                  <a:cubicBezTo>
                    <a:pt x="467487" y="0"/>
                    <a:pt x="470281" y="508"/>
                    <a:pt x="472948" y="1651"/>
                  </a:cubicBezTo>
                  <a:cubicBezTo>
                    <a:pt x="475615" y="2794"/>
                    <a:pt x="477901" y="4318"/>
                    <a:pt x="479933" y="6350"/>
                  </a:cubicBezTo>
                  <a:cubicBezTo>
                    <a:pt x="481965" y="8382"/>
                    <a:pt x="483489" y="10668"/>
                    <a:pt x="484632" y="13335"/>
                  </a:cubicBezTo>
                  <a:cubicBezTo>
                    <a:pt x="485775" y="16002"/>
                    <a:pt x="486283" y="18669"/>
                    <a:pt x="486283" y="21590"/>
                  </a:cubicBezTo>
                  <a:lnTo>
                    <a:pt x="486283" y="207264"/>
                  </a:lnTo>
                  <a:cubicBezTo>
                    <a:pt x="486283" y="210058"/>
                    <a:pt x="485775" y="212852"/>
                    <a:pt x="484632" y="215519"/>
                  </a:cubicBezTo>
                  <a:cubicBezTo>
                    <a:pt x="483489" y="218186"/>
                    <a:pt x="481965" y="220472"/>
                    <a:pt x="479933" y="222504"/>
                  </a:cubicBezTo>
                  <a:cubicBezTo>
                    <a:pt x="477901" y="224536"/>
                    <a:pt x="475615" y="226060"/>
                    <a:pt x="472948" y="227203"/>
                  </a:cubicBezTo>
                  <a:cubicBezTo>
                    <a:pt x="470281" y="228346"/>
                    <a:pt x="467614" y="228854"/>
                    <a:pt x="464693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31233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00075" y="2301392"/>
            <a:ext cx="3278991" cy="56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16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Objetos en Java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038" y="4366974"/>
            <a:ext cx="3116028" cy="212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class Persona {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String nombre; 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int edad;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  <a:p>
            <a:pPr algn="l">
              <a:lnSpc>
                <a:spcPts val="2174"/>
              </a:lnSpc>
            </a:pP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 p = new Persona();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p.nombre = "Ana"; 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p.edad = 30;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05077" y="4746908"/>
            <a:ext cx="1872101" cy="138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Desde Python</a:t>
            </a:r>
          </a:p>
          <a:p>
            <a:pPr algn="l">
              <a:lnSpc>
                <a:spcPts val="2362"/>
              </a:lnSpc>
            </a:pPr>
          </a:p>
          <a:p>
            <a:pPr algn="l">
              <a:lnSpc>
                <a:spcPts val="2200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Similar a una clase con atributos, pero sin self explícito.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33627" y="4277897"/>
            <a:ext cx="1967389" cy="2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¿Te suena de algo?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43642" y="4731806"/>
            <a:ext cx="2045456" cy="13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8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Desde C</a:t>
            </a:r>
          </a:p>
          <a:p>
            <a:pPr algn="l">
              <a:lnSpc>
                <a:spcPts val="2362"/>
              </a:lnSpc>
            </a:pP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Como un struct, pero con comportamiento y métodos propios.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822604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64948" y="2370350"/>
            <a:ext cx="4391911" cy="824459"/>
            <a:chOff x="0" y="0"/>
            <a:chExt cx="1794906" cy="336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4906" cy="336944"/>
            </a:xfrm>
            <a:custGeom>
              <a:avLst/>
              <a:gdLst/>
              <a:ahLst/>
              <a:cxnLst/>
              <a:rect r="r" b="b" t="t" l="l"/>
              <a:pathLst>
                <a:path h="336944" w="1794906">
                  <a:moveTo>
                    <a:pt x="0" y="0"/>
                  </a:moveTo>
                  <a:lnTo>
                    <a:pt x="1794906" y="0"/>
                  </a:lnTo>
                  <a:lnTo>
                    <a:pt x="1794906" y="336944"/>
                  </a:lnTo>
                  <a:lnTo>
                    <a:pt x="0" y="336944"/>
                  </a:lnTo>
                  <a:close/>
                </a:path>
              </a:pathLst>
            </a:custGeom>
            <a:solidFill>
              <a:srgbClr val="00FF4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71450"/>
              <a:ext cx="1794906" cy="50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  <a:r>
                <a:rPr lang="en-US" sz="1350" u="sng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  <a:hlinkClick r:id="rId4" tooltip="https://github.com/SandraMiraMartin/ClaseJava.git"/>
                </a:rPr>
                <a:t>EJEMPLO</a:t>
              </a:r>
            </a:p>
            <a:p>
              <a:pPr algn="ctr">
                <a:lnSpc>
                  <a:spcPts val="3375"/>
                </a:lnSpc>
              </a:pPr>
              <a:r>
                <a:rPr lang="en-US" sz="1350" u="sng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https://github.com/SandraMiraMartin/ClaseJava.git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0163" y="2639044"/>
            <a:ext cx="7081037" cy="55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3313" spc="49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Primeros pasos: sintaxis esencial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6290" y="4089744"/>
            <a:ext cx="1828086" cy="79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 edad = 25;</a:t>
            </a:r>
          </a:p>
          <a:p>
            <a:pPr algn="l">
              <a:lnSpc>
                <a:spcPts val="2100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double precio = 19.99; </a:t>
            </a:r>
          </a:p>
          <a:p>
            <a:pPr algn="l">
              <a:lnSpc>
                <a:spcPts val="2100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String nombre = "Ana";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89894" y="4141613"/>
            <a:ext cx="2343297" cy="7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 (int i = 0; i &lt; 3; i++) {</a:t>
            </a:r>
          </a:p>
          <a:p>
            <a:pPr algn="l">
              <a:lnSpc>
                <a:spcPts val="2075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System.out.println(i); </a:t>
            </a:r>
          </a:p>
          <a:p>
            <a:pPr algn="l">
              <a:lnSpc>
                <a:spcPts val="2075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290" y="5368978"/>
            <a:ext cx="4918705" cy="90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System.out.pr</a:t>
            </a: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intln("texto " + variable si es necesario);</a:t>
            </a:r>
          </a:p>
          <a:p>
            <a:pPr algn="l">
              <a:lnSpc>
                <a:spcPts val="1855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System.out.printf("Precio: %.2f€ %n", precioSugerido); // %.2f para 2 decimales</a:t>
            </a:r>
          </a:p>
          <a:p>
            <a:pPr algn="l">
              <a:lnSpc>
                <a:spcPts val="185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01040" y="3726656"/>
            <a:ext cx="1823304" cy="28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 spc="24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Variables básicas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29913" y="5069948"/>
            <a:ext cx="643557" cy="28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 spc="24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Arrays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29913" y="3613909"/>
            <a:ext cx="965302" cy="28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 spc="24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Bucle for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48273" y="6506937"/>
            <a:ext cx="4091092" cy="79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2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💡</a:t>
            </a:r>
            <a:r>
              <a:rPr lang="en-US" b="true" sz="1325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RECUERDA</a:t>
            </a:r>
            <a:r>
              <a:rPr lang="en-US" sz="132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: En Java todo vive dentro de una </a:t>
            </a:r>
            <a:r>
              <a:rPr lang="en-US" b="true" sz="1325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clase</a:t>
            </a:r>
            <a:r>
              <a:rPr lang="en-US" sz="132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. El método main es el punto de entrada de cualquier programa.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0090" y="5019790"/>
            <a:ext cx="1645682" cy="28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 spc="24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Imprimir pantalla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29913" y="5533568"/>
            <a:ext cx="2214382" cy="23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int[] numeros = {10, 20, 30};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140" y="6336185"/>
            <a:ext cx="1154906" cy="28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 spc="24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Operaciones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8842" y="6667570"/>
            <a:ext cx="3004304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int num1= 25; </a:t>
            </a:r>
          </a:p>
          <a:p>
            <a:pPr algn="just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int num2= 5; </a:t>
            </a:r>
          </a:p>
          <a:p>
            <a:pPr algn="just">
              <a:lnSpc>
                <a:spcPts val="1889"/>
              </a:lnSpc>
              <a:spcBef>
                <a:spcPct val="0"/>
              </a:spcBef>
            </a:pP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double suma = (double) num1 + num2; </a:t>
            </a:r>
          </a:p>
          <a:p>
            <a:pPr algn="just">
              <a:lnSpc>
                <a:spcPts val="18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14681"/>
            <a:ext cx="4286250" cy="6705571"/>
            <a:chOff x="0" y="0"/>
            <a:chExt cx="5715000" cy="8940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940762"/>
            </a:xfrm>
            <a:custGeom>
              <a:avLst/>
              <a:gdLst/>
              <a:ahLst/>
              <a:cxnLst/>
              <a:rect r="r" b="b" t="t" l="l"/>
              <a:pathLst>
                <a:path h="8940762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940762"/>
                  </a:lnTo>
                  <a:lnTo>
                    <a:pt x="0" y="8940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49" t="0" r="-224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06413" y="2546366"/>
            <a:ext cx="4238044" cy="16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Pongamos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en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práctica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lo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aprendido.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El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objetivo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es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sencillo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pero</a:t>
            </a:r>
            <a:r>
              <a:rPr lang="en-US" sz="976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976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completo: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842600" y="2508266"/>
            <a:ext cx="6032497" cy="4844848"/>
            <a:chOff x="0" y="0"/>
            <a:chExt cx="8043329" cy="64597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321469"/>
              <a:ext cx="8043329" cy="6138329"/>
            </a:xfrm>
            <a:custGeom>
              <a:avLst/>
              <a:gdLst/>
              <a:ahLst/>
              <a:cxnLst/>
              <a:rect r="r" b="b" t="t" l="l"/>
              <a:pathLst>
                <a:path h="6138329" w="8043329">
                  <a:moveTo>
                    <a:pt x="0" y="0"/>
                  </a:moveTo>
                  <a:lnTo>
                    <a:pt x="8043329" y="0"/>
                  </a:lnTo>
                  <a:lnTo>
                    <a:pt x="8043329" y="6138329"/>
                  </a:lnTo>
                  <a:lnTo>
                    <a:pt x="0" y="6138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57688" y="-123825"/>
              <a:ext cx="44691" cy="322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1"/>
                </a:lnSpc>
              </a:pPr>
              <a:r>
                <a:rPr lang="en-US" sz="976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98798" y="2512187"/>
              <a:ext cx="105385" cy="287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2"/>
                </a:lnSpc>
              </a:pPr>
              <a:r>
                <a:rPr lang="en-US" b="true" sz="1220" spc="1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75787" y="2803525"/>
              <a:ext cx="1029843" cy="265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1"/>
                </a:lnSpc>
              </a:pPr>
              <a:r>
                <a:rPr lang="en-US" sz="976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Usa un bucle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98798" y="5547500"/>
              <a:ext cx="105385" cy="287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2"/>
                </a:lnSpc>
              </a:pPr>
              <a:r>
                <a:rPr lang="en-US" b="true" sz="1220" spc="1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75787" y="5838825"/>
              <a:ext cx="1713357" cy="265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1"/>
                </a:lnSpc>
              </a:pPr>
              <a:r>
                <a:rPr lang="en-US" sz="976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Imprime la media con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85437" y="2512187"/>
              <a:ext cx="234417" cy="554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92"/>
                </a:lnSpc>
              </a:pPr>
              <a:r>
                <a:rPr lang="en-US" b="true" sz="1220" spc="1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  <a:p>
              <a:pPr algn="r">
                <a:lnSpc>
                  <a:spcPts val="1367"/>
                </a:lnSpc>
              </a:pPr>
              <a:r>
                <a:rPr lang="en-US" sz="976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551883" y="2803525"/>
              <a:ext cx="2238032" cy="265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1"/>
                </a:lnSpc>
              </a:pPr>
              <a:r>
                <a:rPr lang="en-US" sz="976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para sumar todas las edades.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98798" y="988187"/>
              <a:ext cx="105385" cy="287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2"/>
                </a:lnSpc>
              </a:pPr>
              <a:r>
                <a:rPr lang="en-US" b="true" sz="1220" spc="1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75787" y="1279525"/>
              <a:ext cx="4411662" cy="265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1"/>
                </a:lnSpc>
              </a:pPr>
              <a:r>
                <a:rPr lang="en-US" sz="976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Crea un array de enteros con al menos 4 edades distintas.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98798" y="4036187"/>
              <a:ext cx="105385" cy="287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2"/>
                </a:lnSpc>
              </a:pPr>
              <a:r>
                <a:rPr lang="en-US" b="true" sz="1220" spc="18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75787" y="4327525"/>
              <a:ext cx="5394795" cy="265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1"/>
                </a:lnSpc>
              </a:pPr>
              <a:r>
                <a:rPr lang="en-US" sz="976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Divide la suma entre el número de elementos. ¡Ojo con el tipo de dato!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971080" y="466966"/>
              <a:ext cx="101168" cy="259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0"/>
                </a:lnSpc>
              </a:pPr>
              <a:r>
                <a:rPr lang="en-US" b="true" sz="1171" spc="17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971080" y="1990966"/>
              <a:ext cx="101168" cy="259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0"/>
                </a:lnSpc>
              </a:pPr>
              <a:r>
                <a:rPr lang="en-US" b="true" sz="1171" spc="17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971080" y="3514966"/>
              <a:ext cx="101168" cy="259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0"/>
                </a:lnSpc>
              </a:pPr>
              <a:r>
                <a:rPr lang="en-US" b="true" sz="1171" spc="17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3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971080" y="5026266"/>
              <a:ext cx="101168" cy="259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0"/>
                </a:lnSpc>
              </a:pPr>
              <a:r>
                <a:rPr lang="en-US" b="true" sz="1171" spc="17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4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75787" y="1007237"/>
              <a:ext cx="1685671" cy="26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8"/>
                </a:lnSpc>
              </a:pP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Declara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un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array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5787" y="4055237"/>
              <a:ext cx="1685671" cy="26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8"/>
                </a:lnSpc>
              </a:pP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Calcula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la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media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75787" y="2531237"/>
              <a:ext cx="2107082" cy="26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8"/>
                </a:lnSpc>
              </a:pP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Recorre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con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un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bucle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75787" y="5566550"/>
              <a:ext cx="2107082" cy="26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8"/>
                </a:lnSpc>
              </a:pP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Muestra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el</a:t>
              </a:r>
              <a:r>
                <a:rPr lang="en-US" b="true" sz="1220" spc="18">
                  <a:solidFill>
                    <a:srgbClr val="000000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b="true" sz="1220" spc="18">
                  <a:solidFill>
                    <a:srgbClr val="DAD1E6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resultado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955565" y="5856338"/>
              <a:ext cx="1486268" cy="237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7"/>
                </a:lnSpc>
              </a:pPr>
              <a:r>
                <a:rPr lang="en-US" sz="976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System.out.println.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06413" y="7481555"/>
            <a:ext cx="5860647" cy="688674"/>
            <a:chOff x="0" y="0"/>
            <a:chExt cx="1419352" cy="1667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9352" cy="166786"/>
            </a:xfrm>
            <a:custGeom>
              <a:avLst/>
              <a:gdLst/>
              <a:ahLst/>
              <a:cxnLst/>
              <a:rect r="r" b="b" t="t" l="l"/>
              <a:pathLst>
                <a:path h="166786" w="1419352">
                  <a:moveTo>
                    <a:pt x="0" y="0"/>
                  </a:moveTo>
                  <a:lnTo>
                    <a:pt x="1419352" y="0"/>
                  </a:lnTo>
                  <a:lnTo>
                    <a:pt x="1419352" y="166786"/>
                  </a:lnTo>
                  <a:lnTo>
                    <a:pt x="0" y="166786"/>
                  </a:ln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71450"/>
              <a:ext cx="1419352" cy="33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5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906413" y="2239594"/>
            <a:ext cx="3636407" cy="19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b="true" sz="2441" spc="36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Mini ejercicio práctico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63588" y="7585862"/>
            <a:ext cx="5275742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b="true" sz="135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Recuerda</a:t>
            </a: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b="true" sz="135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:</a:t>
            </a:r>
            <a:r>
              <a:rPr lang="en-US" sz="135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hacer casting  a double para no perder decimales en la división entera.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1822447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163" y="2547585"/>
            <a:ext cx="4473540" cy="52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b="true" sz="3139" spc="47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Solución del ejercicio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1677" y="3464928"/>
            <a:ext cx="4322026" cy="309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 class MediaEdades {  </a:t>
            </a:r>
          </a:p>
          <a:p>
            <a:pPr algn="l">
              <a:lnSpc>
                <a:spcPts val="1912"/>
              </a:lnSpc>
            </a:pP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 static void main(String[] args) {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int[] edades = {20, 25, 30, 35};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int suma = 0;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for (int i = 0; i &lt; edades.length; i++) { 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     suma += edades[i];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double media = (double) suma / edades.length;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  System.out.println("Media: " + media);</a:t>
            </a:r>
          </a:p>
          <a:p>
            <a:pPr algn="l">
              <a:lnSpc>
                <a:spcPts val="1912"/>
              </a:lnSpc>
            </a:pPr>
            <a:r>
              <a:rPr lang="en-US" sz="1255" spc="3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}</a:t>
            </a:r>
          </a:p>
          <a:p>
            <a:pPr algn="l">
              <a:lnSpc>
                <a:spcPts val="1912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  <a:p>
            <a:pPr algn="l">
              <a:lnSpc>
                <a:spcPts val="191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71677" y="4560303"/>
            <a:ext cx="42243" cy="8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38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760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3063"/>
              </a:lnSpc>
            </a:pPr>
            <a:r>
              <a:rPr lang="en-US" sz="1255" spc="9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3659" y="5703151"/>
            <a:ext cx="1152306" cy="25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edades.length.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54636" y="5364775"/>
            <a:ext cx="609838" cy="25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569" spc="2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Bucle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54636" y="6517300"/>
            <a:ext cx="4025998" cy="84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569" spc="2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Casting con </a:t>
            </a:r>
          </a:p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Convierte el entero a decimal para obtener una media precisa.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54636" y="3983650"/>
            <a:ext cx="4118905" cy="83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569" spc="2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Array de enteros</a:t>
            </a:r>
          </a:p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Almacena múltiples valores del mismo tipo en una sola variable.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9045" y="3393100"/>
            <a:ext cx="1931070" cy="25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569" spc="23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Conceptos aplicados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54636" y="5741870"/>
            <a:ext cx="3140631" cy="21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Itera sobre cada posición del array usando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2634" y="5295329"/>
            <a:ext cx="296894" cy="27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5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50471" y="6447854"/>
            <a:ext cx="836619" cy="27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5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(double)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1822447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3025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29375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525"/>
            </a:xfrm>
            <a:custGeom>
              <a:avLst/>
              <a:gdLst/>
              <a:ahLst/>
              <a:cxnLst/>
              <a:rect r="r" b="b" t="t" l="l"/>
              <a:pathLst>
                <a:path h="9525" w="11430000">
                  <a:moveTo>
                    <a:pt x="0" y="0"/>
                  </a:moveTo>
                  <a:lnTo>
                    <a:pt x="0" y="9525"/>
                  </a:lnTo>
                  <a:lnTo>
                    <a:pt x="11430000" y="9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2498" y="2463673"/>
              <a:ext cx="3276854" cy="1590929"/>
            </a:xfrm>
            <a:custGeom>
              <a:avLst/>
              <a:gdLst/>
              <a:ahLst/>
              <a:cxnLst/>
              <a:rect r="r" b="b" t="t" l="l"/>
              <a:pathLst>
                <a:path h="1590929" w="3276854">
                  <a:moveTo>
                    <a:pt x="127" y="1568704"/>
                  </a:moveTo>
                  <a:lnTo>
                    <a:pt x="127" y="22225"/>
                  </a:lnTo>
                  <a:cubicBezTo>
                    <a:pt x="127" y="19304"/>
                    <a:pt x="635" y="16510"/>
                    <a:pt x="1778" y="13716"/>
                  </a:cubicBezTo>
                  <a:cubicBezTo>
                    <a:pt x="2921" y="10922"/>
                    <a:pt x="4445" y="8636"/>
                    <a:pt x="6604" y="6477"/>
                  </a:cubicBezTo>
                  <a:cubicBezTo>
                    <a:pt x="8763" y="4318"/>
                    <a:pt x="11049" y="2794"/>
                    <a:pt x="13843" y="1651"/>
                  </a:cubicBezTo>
                  <a:cubicBezTo>
                    <a:pt x="16637" y="508"/>
                    <a:pt x="19431" y="0"/>
                    <a:pt x="22352" y="0"/>
                  </a:cubicBezTo>
                  <a:lnTo>
                    <a:pt x="3254629" y="0"/>
                  </a:lnTo>
                  <a:cubicBezTo>
                    <a:pt x="3257550" y="0"/>
                    <a:pt x="3260344" y="508"/>
                    <a:pt x="3263138" y="1651"/>
                  </a:cubicBezTo>
                  <a:cubicBezTo>
                    <a:pt x="3265932" y="2794"/>
                    <a:pt x="3268218" y="4318"/>
                    <a:pt x="3270377" y="6477"/>
                  </a:cubicBezTo>
                  <a:cubicBezTo>
                    <a:pt x="3272536" y="8636"/>
                    <a:pt x="3274060" y="10922"/>
                    <a:pt x="3275203" y="13716"/>
                  </a:cubicBezTo>
                  <a:cubicBezTo>
                    <a:pt x="3276346" y="16510"/>
                    <a:pt x="3276854" y="19304"/>
                    <a:pt x="3276854" y="22225"/>
                  </a:cubicBezTo>
                  <a:lnTo>
                    <a:pt x="3276854" y="1568704"/>
                  </a:lnTo>
                  <a:cubicBezTo>
                    <a:pt x="3276854" y="1571625"/>
                    <a:pt x="3276346" y="1574419"/>
                    <a:pt x="3275203" y="1577213"/>
                  </a:cubicBezTo>
                  <a:cubicBezTo>
                    <a:pt x="3274060" y="1580007"/>
                    <a:pt x="3272536" y="1582293"/>
                    <a:pt x="3270377" y="1584452"/>
                  </a:cubicBezTo>
                  <a:cubicBezTo>
                    <a:pt x="3268218" y="1586611"/>
                    <a:pt x="3265932" y="1588135"/>
                    <a:pt x="3263138" y="1589278"/>
                  </a:cubicBezTo>
                  <a:cubicBezTo>
                    <a:pt x="3260344" y="1590421"/>
                    <a:pt x="3257550" y="1590929"/>
                    <a:pt x="3254629" y="1590929"/>
                  </a:cubicBezTo>
                  <a:lnTo>
                    <a:pt x="22225" y="1590929"/>
                  </a:lnTo>
                  <a:cubicBezTo>
                    <a:pt x="19304" y="1590929"/>
                    <a:pt x="16510" y="1590421"/>
                    <a:pt x="13716" y="1589278"/>
                  </a:cubicBezTo>
                  <a:cubicBezTo>
                    <a:pt x="10922" y="1588135"/>
                    <a:pt x="8636" y="1586611"/>
                    <a:pt x="6477" y="1584452"/>
                  </a:cubicBezTo>
                  <a:cubicBezTo>
                    <a:pt x="4318" y="1582293"/>
                    <a:pt x="2794" y="1580007"/>
                    <a:pt x="1651" y="1577213"/>
                  </a:cubicBezTo>
                  <a:cubicBezTo>
                    <a:pt x="508" y="1574419"/>
                    <a:pt x="0" y="1571625"/>
                    <a:pt x="0" y="1568704"/>
                  </a:cubicBezTo>
                  <a:close/>
                </a:path>
              </a:pathLst>
            </a:custGeom>
            <a:solidFill>
              <a:srgbClr val="00FF4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140073" y="2463673"/>
              <a:ext cx="3276854" cy="1590929"/>
            </a:xfrm>
            <a:custGeom>
              <a:avLst/>
              <a:gdLst/>
              <a:ahLst/>
              <a:cxnLst/>
              <a:rect r="r" b="b" t="t" l="l"/>
              <a:pathLst>
                <a:path h="1590929" w="3276854">
                  <a:moveTo>
                    <a:pt x="127" y="1568704"/>
                  </a:moveTo>
                  <a:lnTo>
                    <a:pt x="127" y="22225"/>
                  </a:lnTo>
                  <a:cubicBezTo>
                    <a:pt x="127" y="19304"/>
                    <a:pt x="635" y="16510"/>
                    <a:pt x="1778" y="13716"/>
                  </a:cubicBezTo>
                  <a:cubicBezTo>
                    <a:pt x="2921" y="10922"/>
                    <a:pt x="4445" y="8636"/>
                    <a:pt x="6604" y="6477"/>
                  </a:cubicBezTo>
                  <a:cubicBezTo>
                    <a:pt x="8763" y="4318"/>
                    <a:pt x="11049" y="2794"/>
                    <a:pt x="13843" y="1651"/>
                  </a:cubicBezTo>
                  <a:cubicBezTo>
                    <a:pt x="16637" y="508"/>
                    <a:pt x="19431" y="0"/>
                    <a:pt x="22352" y="0"/>
                  </a:cubicBezTo>
                  <a:lnTo>
                    <a:pt x="3254629" y="0"/>
                  </a:lnTo>
                  <a:cubicBezTo>
                    <a:pt x="3257550" y="0"/>
                    <a:pt x="3260344" y="508"/>
                    <a:pt x="3263138" y="1651"/>
                  </a:cubicBezTo>
                  <a:cubicBezTo>
                    <a:pt x="3265932" y="2794"/>
                    <a:pt x="3268218" y="4318"/>
                    <a:pt x="3270377" y="6477"/>
                  </a:cubicBezTo>
                  <a:cubicBezTo>
                    <a:pt x="3272536" y="8636"/>
                    <a:pt x="3274060" y="10922"/>
                    <a:pt x="3275203" y="13716"/>
                  </a:cubicBezTo>
                  <a:cubicBezTo>
                    <a:pt x="3276346" y="16510"/>
                    <a:pt x="3276854" y="19304"/>
                    <a:pt x="3276854" y="22225"/>
                  </a:cubicBezTo>
                  <a:lnTo>
                    <a:pt x="3276854" y="1568704"/>
                  </a:lnTo>
                  <a:cubicBezTo>
                    <a:pt x="3276854" y="1571625"/>
                    <a:pt x="3276346" y="1574419"/>
                    <a:pt x="3275203" y="1577213"/>
                  </a:cubicBezTo>
                  <a:cubicBezTo>
                    <a:pt x="3274060" y="1580007"/>
                    <a:pt x="3272536" y="1582293"/>
                    <a:pt x="3270377" y="1584452"/>
                  </a:cubicBezTo>
                  <a:cubicBezTo>
                    <a:pt x="3268218" y="1586611"/>
                    <a:pt x="3265932" y="1588135"/>
                    <a:pt x="3263138" y="1589278"/>
                  </a:cubicBezTo>
                  <a:cubicBezTo>
                    <a:pt x="3260344" y="1590421"/>
                    <a:pt x="3257550" y="1590929"/>
                    <a:pt x="3254629" y="1590929"/>
                  </a:cubicBezTo>
                  <a:lnTo>
                    <a:pt x="22225" y="1590929"/>
                  </a:lnTo>
                  <a:cubicBezTo>
                    <a:pt x="19304" y="1590929"/>
                    <a:pt x="16510" y="1590421"/>
                    <a:pt x="13716" y="1589278"/>
                  </a:cubicBezTo>
                  <a:cubicBezTo>
                    <a:pt x="10922" y="1588135"/>
                    <a:pt x="8636" y="1586611"/>
                    <a:pt x="6477" y="1584452"/>
                  </a:cubicBezTo>
                  <a:cubicBezTo>
                    <a:pt x="4318" y="1582293"/>
                    <a:pt x="2794" y="1580007"/>
                    <a:pt x="1651" y="1577213"/>
                  </a:cubicBezTo>
                  <a:cubicBezTo>
                    <a:pt x="508" y="1574419"/>
                    <a:pt x="0" y="1571625"/>
                    <a:pt x="0" y="1568704"/>
                  </a:cubicBezTo>
                  <a:close/>
                </a:path>
              </a:pathLst>
            </a:custGeom>
            <a:solidFill>
              <a:srgbClr val="00FF4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597648" y="2463673"/>
              <a:ext cx="3276854" cy="1590929"/>
            </a:xfrm>
            <a:custGeom>
              <a:avLst/>
              <a:gdLst/>
              <a:ahLst/>
              <a:cxnLst/>
              <a:rect r="r" b="b" t="t" l="l"/>
              <a:pathLst>
                <a:path h="1590929" w="3276854">
                  <a:moveTo>
                    <a:pt x="127" y="1568704"/>
                  </a:moveTo>
                  <a:lnTo>
                    <a:pt x="127" y="22225"/>
                  </a:lnTo>
                  <a:cubicBezTo>
                    <a:pt x="127" y="19304"/>
                    <a:pt x="635" y="16510"/>
                    <a:pt x="1778" y="13716"/>
                  </a:cubicBezTo>
                  <a:cubicBezTo>
                    <a:pt x="2921" y="10922"/>
                    <a:pt x="4445" y="8636"/>
                    <a:pt x="6604" y="6477"/>
                  </a:cubicBezTo>
                  <a:cubicBezTo>
                    <a:pt x="8763" y="4318"/>
                    <a:pt x="11049" y="2794"/>
                    <a:pt x="13843" y="1651"/>
                  </a:cubicBezTo>
                  <a:cubicBezTo>
                    <a:pt x="16637" y="508"/>
                    <a:pt x="19431" y="0"/>
                    <a:pt x="22352" y="0"/>
                  </a:cubicBezTo>
                  <a:lnTo>
                    <a:pt x="3254629" y="0"/>
                  </a:lnTo>
                  <a:cubicBezTo>
                    <a:pt x="3257550" y="0"/>
                    <a:pt x="3260344" y="508"/>
                    <a:pt x="3263138" y="1651"/>
                  </a:cubicBezTo>
                  <a:cubicBezTo>
                    <a:pt x="3265932" y="2794"/>
                    <a:pt x="3268218" y="4318"/>
                    <a:pt x="3270377" y="6477"/>
                  </a:cubicBezTo>
                  <a:cubicBezTo>
                    <a:pt x="3272536" y="8636"/>
                    <a:pt x="3274060" y="10922"/>
                    <a:pt x="3275203" y="13716"/>
                  </a:cubicBezTo>
                  <a:cubicBezTo>
                    <a:pt x="3276346" y="16510"/>
                    <a:pt x="3276854" y="19304"/>
                    <a:pt x="3276854" y="22225"/>
                  </a:cubicBezTo>
                  <a:lnTo>
                    <a:pt x="3276854" y="1568704"/>
                  </a:lnTo>
                  <a:cubicBezTo>
                    <a:pt x="3276854" y="1571625"/>
                    <a:pt x="3276346" y="1574419"/>
                    <a:pt x="3275203" y="1577213"/>
                  </a:cubicBezTo>
                  <a:cubicBezTo>
                    <a:pt x="3274060" y="1580007"/>
                    <a:pt x="3272536" y="1582293"/>
                    <a:pt x="3270377" y="1584452"/>
                  </a:cubicBezTo>
                  <a:cubicBezTo>
                    <a:pt x="3268218" y="1586611"/>
                    <a:pt x="3265932" y="1588135"/>
                    <a:pt x="3263138" y="1589278"/>
                  </a:cubicBezTo>
                  <a:cubicBezTo>
                    <a:pt x="3260344" y="1590421"/>
                    <a:pt x="3257550" y="1590929"/>
                    <a:pt x="3254629" y="1590929"/>
                  </a:cubicBezTo>
                  <a:lnTo>
                    <a:pt x="22225" y="1590929"/>
                  </a:lnTo>
                  <a:cubicBezTo>
                    <a:pt x="19304" y="1590929"/>
                    <a:pt x="16510" y="1590421"/>
                    <a:pt x="13716" y="1589278"/>
                  </a:cubicBezTo>
                  <a:cubicBezTo>
                    <a:pt x="10922" y="1588135"/>
                    <a:pt x="8636" y="1586611"/>
                    <a:pt x="6477" y="1584452"/>
                  </a:cubicBezTo>
                  <a:cubicBezTo>
                    <a:pt x="4318" y="1582293"/>
                    <a:pt x="2794" y="1580007"/>
                    <a:pt x="1651" y="1577213"/>
                  </a:cubicBezTo>
                  <a:cubicBezTo>
                    <a:pt x="508" y="1574419"/>
                    <a:pt x="0" y="1571625"/>
                    <a:pt x="0" y="1568704"/>
                  </a:cubicBezTo>
                  <a:close/>
                </a:path>
              </a:pathLst>
            </a:custGeom>
            <a:solidFill>
              <a:srgbClr val="00FF4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82498" y="4254373"/>
              <a:ext cx="10192004" cy="752602"/>
            </a:xfrm>
            <a:custGeom>
              <a:avLst/>
              <a:gdLst/>
              <a:ahLst/>
              <a:cxnLst/>
              <a:rect r="r" b="b" t="t" l="l"/>
              <a:pathLst>
                <a:path h="752602" w="10192004">
                  <a:moveTo>
                    <a:pt x="127" y="730504"/>
                  </a:moveTo>
                  <a:lnTo>
                    <a:pt x="127" y="22225"/>
                  </a:lnTo>
                  <a:cubicBezTo>
                    <a:pt x="127" y="19304"/>
                    <a:pt x="635" y="16510"/>
                    <a:pt x="1778" y="13716"/>
                  </a:cubicBezTo>
                  <a:cubicBezTo>
                    <a:pt x="2921" y="10922"/>
                    <a:pt x="4445" y="8636"/>
                    <a:pt x="6604" y="6477"/>
                  </a:cubicBezTo>
                  <a:cubicBezTo>
                    <a:pt x="8763" y="4318"/>
                    <a:pt x="11049" y="2794"/>
                    <a:pt x="13843" y="1651"/>
                  </a:cubicBezTo>
                  <a:cubicBezTo>
                    <a:pt x="16637" y="508"/>
                    <a:pt x="19431" y="0"/>
                    <a:pt x="22352" y="0"/>
                  </a:cubicBezTo>
                  <a:lnTo>
                    <a:pt x="10169779" y="0"/>
                  </a:lnTo>
                  <a:cubicBezTo>
                    <a:pt x="10172700" y="0"/>
                    <a:pt x="10175494" y="508"/>
                    <a:pt x="10178288" y="1651"/>
                  </a:cubicBezTo>
                  <a:cubicBezTo>
                    <a:pt x="10181082" y="2794"/>
                    <a:pt x="10183368" y="4318"/>
                    <a:pt x="10185527" y="6477"/>
                  </a:cubicBezTo>
                  <a:cubicBezTo>
                    <a:pt x="10187686" y="8636"/>
                    <a:pt x="10189210" y="10922"/>
                    <a:pt x="10190353" y="13716"/>
                  </a:cubicBezTo>
                  <a:cubicBezTo>
                    <a:pt x="10191496" y="16510"/>
                    <a:pt x="10192004" y="19304"/>
                    <a:pt x="10192004" y="22225"/>
                  </a:cubicBezTo>
                  <a:lnTo>
                    <a:pt x="10192004" y="730377"/>
                  </a:lnTo>
                  <a:cubicBezTo>
                    <a:pt x="10192004" y="733298"/>
                    <a:pt x="10191496" y="736092"/>
                    <a:pt x="10190353" y="738886"/>
                  </a:cubicBezTo>
                  <a:cubicBezTo>
                    <a:pt x="10189210" y="741680"/>
                    <a:pt x="10187686" y="743966"/>
                    <a:pt x="10185527" y="746125"/>
                  </a:cubicBezTo>
                  <a:cubicBezTo>
                    <a:pt x="10183368" y="748284"/>
                    <a:pt x="10181082" y="749808"/>
                    <a:pt x="10178288" y="750951"/>
                  </a:cubicBezTo>
                  <a:cubicBezTo>
                    <a:pt x="10175494" y="752094"/>
                    <a:pt x="10172700" y="752602"/>
                    <a:pt x="10169779" y="752602"/>
                  </a:cubicBezTo>
                  <a:lnTo>
                    <a:pt x="22225" y="752602"/>
                  </a:lnTo>
                  <a:cubicBezTo>
                    <a:pt x="19304" y="752602"/>
                    <a:pt x="16510" y="752094"/>
                    <a:pt x="13716" y="750951"/>
                  </a:cubicBezTo>
                  <a:cubicBezTo>
                    <a:pt x="10922" y="749808"/>
                    <a:pt x="8636" y="748284"/>
                    <a:pt x="6477" y="746125"/>
                  </a:cubicBezTo>
                  <a:cubicBezTo>
                    <a:pt x="4318" y="743966"/>
                    <a:pt x="2794" y="741680"/>
                    <a:pt x="1651" y="738886"/>
                  </a:cubicBezTo>
                  <a:cubicBezTo>
                    <a:pt x="508" y="736092"/>
                    <a:pt x="0" y="733298"/>
                    <a:pt x="0" y="730377"/>
                  </a:cubicBezTo>
                  <a:close/>
                </a:path>
              </a:pathLst>
            </a:custGeom>
            <a:solidFill>
              <a:srgbClr val="AEE4B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96874" y="4522851"/>
              <a:ext cx="154940" cy="154940"/>
            </a:xfrm>
            <a:custGeom>
              <a:avLst/>
              <a:gdLst/>
              <a:ahLst/>
              <a:cxnLst/>
              <a:rect r="r" b="b" t="t" l="l"/>
              <a:pathLst>
                <a:path h="154940" w="154940">
                  <a:moveTo>
                    <a:pt x="22098" y="16510"/>
                  </a:moveTo>
                  <a:cubicBezTo>
                    <a:pt x="19050" y="16510"/>
                    <a:pt x="16510" y="19050"/>
                    <a:pt x="16510" y="22098"/>
                  </a:cubicBezTo>
                  <a:lnTo>
                    <a:pt x="16510" y="132842"/>
                  </a:lnTo>
                  <a:cubicBezTo>
                    <a:pt x="16510" y="135890"/>
                    <a:pt x="19050" y="138430"/>
                    <a:pt x="22098" y="138430"/>
                  </a:cubicBezTo>
                  <a:lnTo>
                    <a:pt x="99568" y="138430"/>
                  </a:lnTo>
                  <a:lnTo>
                    <a:pt x="99568" y="110744"/>
                  </a:lnTo>
                  <a:cubicBezTo>
                    <a:pt x="99568" y="104648"/>
                    <a:pt x="104521" y="99695"/>
                    <a:pt x="110617" y="99695"/>
                  </a:cubicBezTo>
                  <a:lnTo>
                    <a:pt x="138303" y="99695"/>
                  </a:lnTo>
                  <a:lnTo>
                    <a:pt x="138303" y="22225"/>
                  </a:lnTo>
                  <a:cubicBezTo>
                    <a:pt x="138303" y="19177"/>
                    <a:pt x="135763" y="16637"/>
                    <a:pt x="132715" y="16637"/>
                  </a:cubicBezTo>
                  <a:lnTo>
                    <a:pt x="22098" y="16637"/>
                  </a:lnTo>
                  <a:close/>
                  <a:moveTo>
                    <a:pt x="99568" y="154940"/>
                  </a:moveTo>
                  <a:lnTo>
                    <a:pt x="22098" y="154940"/>
                  </a:lnTo>
                  <a:cubicBezTo>
                    <a:pt x="9906" y="154940"/>
                    <a:pt x="0" y="145034"/>
                    <a:pt x="0" y="132842"/>
                  </a:cubicBezTo>
                  <a:lnTo>
                    <a:pt x="0" y="22098"/>
                  </a:lnTo>
                  <a:cubicBezTo>
                    <a:pt x="0" y="9906"/>
                    <a:pt x="9906" y="0"/>
                    <a:pt x="22098" y="0"/>
                  </a:cubicBezTo>
                  <a:lnTo>
                    <a:pt x="132842" y="0"/>
                  </a:lnTo>
                  <a:cubicBezTo>
                    <a:pt x="145034" y="0"/>
                    <a:pt x="154940" y="9906"/>
                    <a:pt x="154940" y="22098"/>
                  </a:cubicBezTo>
                  <a:lnTo>
                    <a:pt x="154940" y="99568"/>
                  </a:lnTo>
                  <a:lnTo>
                    <a:pt x="154940" y="101473"/>
                  </a:lnTo>
                  <a:cubicBezTo>
                    <a:pt x="154940" y="107315"/>
                    <a:pt x="152654" y="113030"/>
                    <a:pt x="148463" y="117094"/>
                  </a:cubicBezTo>
                  <a:lnTo>
                    <a:pt x="117221" y="148336"/>
                  </a:lnTo>
                  <a:cubicBezTo>
                    <a:pt x="113030" y="152527"/>
                    <a:pt x="107442" y="154813"/>
                    <a:pt x="101600" y="154813"/>
                  </a:cubicBezTo>
                  <a:lnTo>
                    <a:pt x="99695" y="154813"/>
                  </a:lnTo>
                  <a:close/>
                </a:path>
              </a:pathLst>
            </a:custGeom>
            <a:solidFill>
              <a:srgbClr val="26733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20163" y="3421199"/>
            <a:ext cx="4517755" cy="581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b="true" sz="3488" spc="52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Resumen de la sesión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271" y="4380319"/>
            <a:ext cx="281254" cy="32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52760" y="4383291"/>
            <a:ext cx="281254" cy="32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08402" y="4383291"/>
            <a:ext cx="281254" cy="32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📦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048" y="4482408"/>
            <a:ext cx="790604" cy="29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La JVM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8547" y="4482408"/>
            <a:ext cx="1581207" cy="29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Tipado fuerte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84179" y="4482408"/>
            <a:ext cx="2258863" cy="29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Orientado a objetos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7271" y="4831518"/>
            <a:ext cx="2901058" cy="84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Compila a bytecode y lo ejecuta en cualquier plataforma. </a:t>
            </a:r>
            <a:r>
              <a:rPr lang="en-US" b="true" sz="1395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Write Once, Run Anywhere.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52760" y="4831518"/>
            <a:ext cx="2761393" cy="84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Declaras el tipo de cada variable. Más control, menos errores en tiempo de ejecución.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835" y="6307893"/>
            <a:ext cx="7774543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Con estos tres pilares ya tienes la base para entender cualquier programa Java que encuentres.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08402" y="4831518"/>
            <a:ext cx="2748744" cy="84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El código se organiza en clases, preparando el terreno para proyectos grandes y mantenibles.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1822704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1790852"/>
            <a:ext cx="4286250" cy="6629400"/>
            <a:chOff x="0" y="0"/>
            <a:chExt cx="5715000" cy="883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839200"/>
            </a:xfrm>
            <a:custGeom>
              <a:avLst/>
              <a:gdLst/>
              <a:ahLst/>
              <a:cxnLst/>
              <a:rect r="r" b="b" t="t" l="l"/>
              <a:pathLst>
                <a:path h="88392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839200"/>
                  </a:lnTo>
                  <a:lnTo>
                    <a:pt x="0" y="883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56" t="0" r="-165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901184" y="6651336"/>
            <a:ext cx="451304" cy="589540"/>
          </a:xfrm>
          <a:custGeom>
            <a:avLst/>
            <a:gdLst/>
            <a:ahLst/>
            <a:cxnLst/>
            <a:rect r="r" b="b" t="t" l="l"/>
            <a:pathLst>
              <a:path h="589540" w="451304">
                <a:moveTo>
                  <a:pt x="0" y="0"/>
                </a:moveTo>
                <a:lnTo>
                  <a:pt x="451304" y="0"/>
                </a:lnTo>
                <a:lnTo>
                  <a:pt x="451304" y="589540"/>
                </a:lnTo>
                <a:lnTo>
                  <a:pt x="0" y="589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26730" y="5346411"/>
            <a:ext cx="400202" cy="589540"/>
          </a:xfrm>
          <a:custGeom>
            <a:avLst/>
            <a:gdLst/>
            <a:ahLst/>
            <a:cxnLst/>
            <a:rect r="r" b="b" t="t" l="l"/>
            <a:pathLst>
              <a:path h="589540" w="400202">
                <a:moveTo>
                  <a:pt x="0" y="0"/>
                </a:moveTo>
                <a:lnTo>
                  <a:pt x="400202" y="0"/>
                </a:lnTo>
                <a:lnTo>
                  <a:pt x="400202" y="589540"/>
                </a:lnTo>
                <a:lnTo>
                  <a:pt x="0" y="589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32061" y="4057250"/>
            <a:ext cx="589531" cy="558032"/>
          </a:xfrm>
          <a:custGeom>
            <a:avLst/>
            <a:gdLst/>
            <a:ahLst/>
            <a:cxnLst/>
            <a:rect r="r" b="b" t="t" l="l"/>
            <a:pathLst>
              <a:path h="558032" w="589531">
                <a:moveTo>
                  <a:pt x="0" y="0"/>
                </a:moveTo>
                <a:lnTo>
                  <a:pt x="589531" y="0"/>
                </a:lnTo>
                <a:lnTo>
                  <a:pt x="589531" y="558032"/>
                </a:lnTo>
                <a:lnTo>
                  <a:pt x="0" y="5580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06413" y="2868749"/>
            <a:ext cx="3840089" cy="2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b="true" sz="3488" spc="52">
                <a:solidFill>
                  <a:srgbClr val="2CE6BC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Java abre puertas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94118" y="3221612"/>
            <a:ext cx="478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3170" y="6673158"/>
            <a:ext cx="112947" cy="3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70792" y="7022087"/>
            <a:ext cx="4955124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Kotlin, Scala o C# resultan mucho más sencillos una vez que </a:t>
            </a:r>
          </a:p>
          <a:p>
            <a:pPr algn="l">
              <a:lnSpc>
                <a:spcPts val="1329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dominas los fundamentos de Java.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6413" y="3335912"/>
            <a:ext cx="5824776" cy="26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Dominar Java no es solo aprender un lenguaje — es </a:t>
            </a:r>
            <a:r>
              <a:rPr lang="en-US" b="true" sz="1394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invertir en tu futuro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06413" y="3621662"/>
            <a:ext cx="984866" cy="27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394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profesional</a:t>
            </a: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70792" y="5802887"/>
            <a:ext cx="5166589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La base de Android es Java. Aprender Java te acerca también al desarrollo móvil.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13704" y="4063308"/>
            <a:ext cx="112947" cy="36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70792" y="4412237"/>
            <a:ext cx="5341163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0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Banca, telecomunicaciones, startups y grandes empresas buscan </a:t>
            </a:r>
          </a:p>
          <a:p>
            <a:pPr algn="l">
              <a:lnSpc>
                <a:spcPts val="1329"/>
              </a:lnSpc>
            </a:pPr>
            <a:r>
              <a:rPr lang="en-US" sz="1394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desarrolladores Java cada día.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70792" y="5434908"/>
            <a:ext cx="1468260" cy="29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Android y más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70792" y="4129983"/>
            <a:ext cx="2098358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Alta demanda laboral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70792" y="6739833"/>
            <a:ext cx="2701766" cy="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 spc="2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Trampolín a otros lenguajes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DAHCyxtU-qg</dc:identifier>
  <dcterms:modified xsi:type="dcterms:W3CDTF">2011-08-01T06:04:30Z</dcterms:modified>
  <cp:revision>1</cp:revision>
  <dc:title>JavaClass</dc:title>
</cp:coreProperties>
</file>